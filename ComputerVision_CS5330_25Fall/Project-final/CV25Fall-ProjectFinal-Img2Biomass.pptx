
<file path=[Content_Types].xml><?xml version="1.0" encoding="utf-8"?>
<Types xmlns="http://schemas.openxmlformats.org/package/2006/content-types">
  <Default Extension="jpeg" ContentType="image/jpeg"/>
  <Default Extension="JPG" ContentType="image/.jp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4" Type="http://schemas.openxmlformats.org/package/2006/relationships/metadata/thumbnail" Target="docProps/thumbnail.jpeg"/><Relationship Id="rId3" Type="http://schemas.openxmlformats.org/package/2006/relationships/metadata/core-properties" Target="docProps/core.xml"/><Relationship Id="rId2"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sldIdLst>
    <p:sldId id="256" r:id="rId3"/>
    <p:sldId id="258" r:id="rId4"/>
    <p:sldId id="259" r:id="rId5"/>
    <p:sldId id="260" r:id="rId6"/>
    <p:sldId id="261" r:id="rId7"/>
    <p:sldId id="262" r:id="rId8"/>
    <p:sldId id="265" r:id="rId9"/>
    <p:sldId id="266" r:id="rId10"/>
    <p:sldId id="263" r:id="rId11"/>
    <p:sldId id="264" r:id="rId12"/>
    <p:sldId id="267" r:id="rId13"/>
  </p:sldIdLst>
  <p:sldSz cx="12192000" cy="6858000"/>
  <p:notesSz cx="6858000" cy="9144000"/>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987" autoAdjust="0"/>
    <p:restoredTop sz="94660"/>
  </p:normalViewPr>
  <p:slideViewPr>
    <p:cSldViewPr snapToGrid="0" showGuides="1">
      <p:cViewPr varScale="1">
        <p:scale>
          <a:sx n="116" d="100"/>
          <a:sy n="116" d="100"/>
        </p:scale>
        <p:origin x="336" y="108"/>
      </p:cViewPr>
      <p:guideLst>
        <p:guide orient="horz" pos="2160"/>
        <p:guide pos="384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9" Type="http://schemas.openxmlformats.org/officeDocument/2006/relationships/slide" Target="slides/slide7.xml"/><Relationship Id="rId8" Type="http://schemas.openxmlformats.org/officeDocument/2006/relationships/slide" Target="slides/slide6.xml"/><Relationship Id="rId7" Type="http://schemas.openxmlformats.org/officeDocument/2006/relationships/slide" Target="slides/slide5.xml"/><Relationship Id="rId6" Type="http://schemas.openxmlformats.org/officeDocument/2006/relationships/slide" Target="slides/slide4.xml"/><Relationship Id="rId5" Type="http://schemas.openxmlformats.org/officeDocument/2006/relationships/slide" Target="slides/slide3.xml"/><Relationship Id="rId4" Type="http://schemas.openxmlformats.org/officeDocument/2006/relationships/slide" Target="slides/slide2.xml"/><Relationship Id="rId3" Type="http://schemas.openxmlformats.org/officeDocument/2006/relationships/slide" Target="slides/slide1.xml"/><Relationship Id="rId2" Type="http://schemas.openxmlformats.org/officeDocument/2006/relationships/theme" Target="theme/theme1.xml"/><Relationship Id="rId16" Type="http://schemas.openxmlformats.org/officeDocument/2006/relationships/tableStyles" Target="tableStyles.xml"/><Relationship Id="rId15" Type="http://schemas.openxmlformats.org/officeDocument/2006/relationships/viewProps" Target="viewProps.xml"/><Relationship Id="rId14" Type="http://schemas.openxmlformats.org/officeDocument/2006/relationships/presProps" Target="presProps.xml"/><Relationship Id="rId13" Type="http://schemas.openxmlformats.org/officeDocument/2006/relationships/slide" Target="slides/slide11.xml"/><Relationship Id="rId12" Type="http://schemas.openxmlformats.org/officeDocument/2006/relationships/slide" Target="slides/slide10.xml"/><Relationship Id="rId11" Type="http://schemas.openxmlformats.org/officeDocument/2006/relationships/slide" Target="slides/slide9.xml"/><Relationship Id="rId10" Type="http://schemas.openxmlformats.org/officeDocument/2006/relationships/slide" Target="slides/slide8.xml"/><Relationship Id="rId1" Type="http://schemas.openxmlformats.org/officeDocument/2006/relationships/slideMaster" Target="slideMasters/slideMaster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1524000" y="1122363"/>
            <a:ext cx="9144000" cy="2387600"/>
          </a:xfrm>
        </p:spPr>
        <p:txBody>
          <a:bodyPr anchor="b"/>
          <a:lstStyle>
            <a:lvl1pPr algn="ctr">
              <a:defRPr sz="6000"/>
            </a:lvl1pPr>
          </a:lstStyle>
          <a:p>
            <a:r>
              <a:rPr lang="zh-CN" altLang="en-US" smtClean="0"/>
              <a:t>单击此处编辑母版标题样式</a:t>
            </a:r>
            <a:endParaRPr lang="zh-CN" altLang="en-US"/>
          </a:p>
        </p:txBody>
      </p:sp>
      <p:sp>
        <p:nvSpPr>
          <p:cNvPr id="3" name="副标题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smtClean="0"/>
              <a:t>单击此处编辑母版副标题样式</a:t>
            </a:r>
            <a:endParaRPr lang="zh-CN" altLang="en-US"/>
          </a:p>
        </p:txBody>
      </p:sp>
      <p:sp>
        <p:nvSpPr>
          <p:cNvPr id="4" name="日期占位符 3"/>
          <p:cNvSpPr>
            <a:spLocks noGrp="1"/>
          </p:cNvSpPr>
          <p:nvPr>
            <p:ph type="dt" sz="half" idx="10"/>
          </p:nvPr>
        </p:nvSpPr>
        <p:spPr/>
        <p:txBody>
          <a:bodyPr/>
          <a:lstStyle/>
          <a:p>
            <a:fld id="{D997B5FA-0921-464F-AAE1-844C04324D75}"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565CE74E-AB26-4998-AD42-012C4C1AD076}" type="slidenum">
              <a:rPr lang="zh-CN" altLang="en-US" smtClean="0"/>
            </a:fld>
            <a:endParaRPr lang="zh-CN" alt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内容占位符 2"/>
          <p:cNvSpPr>
            <a:spLocks noGrp="1"/>
          </p:cNvSpPr>
          <p:nvPr>
            <p:ph idx="1"/>
          </p:nvPr>
        </p:nvSpPr>
        <p:spPr/>
        <p:txBody>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日期占位符 3"/>
          <p:cNvSpPr>
            <a:spLocks noGrp="1"/>
          </p:cNvSpPr>
          <p:nvPr>
            <p:ph type="dt" sz="half" idx="10"/>
          </p:nvPr>
        </p:nvSpPr>
        <p:spPr/>
        <p:txBody>
          <a:bodyPr/>
          <a:lstStyle/>
          <a:p>
            <a:fld id="{D997B5FA-0921-464F-AAE1-844C04324D75}"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565CE74E-AB26-4998-AD42-012C4C1AD076}" type="slidenum">
              <a:rPr lang="zh-CN" altLang="en-US" smtClean="0"/>
            </a:fld>
            <a:endParaRPr lang="zh-CN" alt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831850" y="1709738"/>
            <a:ext cx="10515600" cy="2852737"/>
          </a:xfrm>
        </p:spPr>
        <p:txBody>
          <a:bodyPr anchor="b"/>
          <a:lstStyle>
            <a:lvl1pPr>
              <a:defRPr sz="6000"/>
            </a:lvl1pPr>
          </a:lstStyle>
          <a:p>
            <a:r>
              <a:rPr lang="zh-CN" altLang="en-US" smtClean="0"/>
              <a:t>单击此处编辑母版标题样式</a:t>
            </a:r>
            <a:endParaRPr lang="zh-CN" altLang="en-US"/>
          </a:p>
        </p:txBody>
      </p:sp>
      <p:sp>
        <p:nvSpPr>
          <p:cNvPr id="3" name="文本占位符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CN" altLang="en-US" smtClean="0"/>
              <a:t>单击此处编辑母版文本样式</a:t>
            </a:r>
            <a:endParaRPr lang="zh-CN" altLang="en-US" smtClean="0"/>
          </a:p>
        </p:txBody>
      </p:sp>
      <p:sp>
        <p:nvSpPr>
          <p:cNvPr id="4" name="日期占位符 3"/>
          <p:cNvSpPr>
            <a:spLocks noGrp="1"/>
          </p:cNvSpPr>
          <p:nvPr>
            <p:ph type="dt" sz="half" idx="10"/>
          </p:nvPr>
        </p:nvSpPr>
        <p:spPr/>
        <p:txBody>
          <a:bodyPr/>
          <a:lstStyle/>
          <a:p>
            <a:fld id="{D997B5FA-0921-464F-AAE1-844C04324D75}"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565CE74E-AB26-4998-AD42-012C4C1AD076}" type="slidenum">
              <a:rPr lang="zh-CN" altLang="en-US" smtClean="0"/>
            </a:fld>
            <a:endParaRPr lang="zh-CN" alt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内容占位符 2"/>
          <p:cNvSpPr>
            <a:spLocks noGrp="1"/>
          </p:cNvSpPr>
          <p:nvPr>
            <p:ph sz="half" idx="1"/>
          </p:nvPr>
        </p:nvSpPr>
        <p:spPr>
          <a:xfrm>
            <a:off x="838200" y="1825625"/>
            <a:ext cx="5181600" cy="4351338"/>
          </a:xfrm>
        </p:spPr>
        <p:txBody>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内容占位符 3"/>
          <p:cNvSpPr>
            <a:spLocks noGrp="1"/>
          </p:cNvSpPr>
          <p:nvPr>
            <p:ph sz="half" idx="2"/>
          </p:nvPr>
        </p:nvSpPr>
        <p:spPr>
          <a:xfrm>
            <a:off x="6172200" y="1825625"/>
            <a:ext cx="5181600" cy="4351338"/>
          </a:xfrm>
        </p:spPr>
        <p:txBody>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5" name="日期占位符 4"/>
          <p:cNvSpPr>
            <a:spLocks noGrp="1"/>
          </p:cNvSpPr>
          <p:nvPr>
            <p:ph type="dt" sz="half" idx="10"/>
          </p:nvPr>
        </p:nvSpPr>
        <p:spPr/>
        <p:txBody>
          <a:bodyPr/>
          <a:lstStyle/>
          <a:p>
            <a:fld id="{D997B5FA-0921-464F-AAE1-844C04324D75}" type="datetimeFigureOut">
              <a:rPr lang="zh-CN" altLang="en-US" smtClean="0"/>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565CE74E-AB26-4998-AD42-012C4C1AD076}" type="slidenum">
              <a:rPr lang="zh-CN" altLang="en-US" smtClean="0"/>
            </a:fld>
            <a:endParaRPr lang="zh-CN" alt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839788" y="365125"/>
            <a:ext cx="10515600" cy="1325563"/>
          </a:xfrm>
        </p:spPr>
        <p:txBody>
          <a:bodyPr/>
          <a:lstStyle/>
          <a:p>
            <a:r>
              <a:rPr lang="zh-CN" altLang="en-US" smtClean="0"/>
              <a:t>单击此处编辑母版标题样式</a:t>
            </a:r>
            <a:endParaRPr lang="zh-CN" altLang="en-US"/>
          </a:p>
        </p:txBody>
      </p:sp>
      <p:sp>
        <p:nvSpPr>
          <p:cNvPr id="3" name="文本占位符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smtClean="0"/>
              <a:t>单击此处编辑母版文本样式</a:t>
            </a:r>
            <a:endParaRPr lang="zh-CN" altLang="en-US" smtClean="0"/>
          </a:p>
        </p:txBody>
      </p:sp>
      <p:sp>
        <p:nvSpPr>
          <p:cNvPr id="4" name="内容占位符 3"/>
          <p:cNvSpPr>
            <a:spLocks noGrp="1"/>
          </p:cNvSpPr>
          <p:nvPr>
            <p:ph sz="half" idx="2"/>
          </p:nvPr>
        </p:nvSpPr>
        <p:spPr>
          <a:xfrm>
            <a:off x="839788" y="2505075"/>
            <a:ext cx="5157787" cy="3684588"/>
          </a:xfrm>
        </p:spPr>
        <p:txBody>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5" name="文本占位符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smtClean="0"/>
              <a:t>单击此处编辑母版文本样式</a:t>
            </a:r>
            <a:endParaRPr lang="zh-CN" altLang="en-US" smtClean="0"/>
          </a:p>
        </p:txBody>
      </p:sp>
      <p:sp>
        <p:nvSpPr>
          <p:cNvPr id="6" name="内容占位符 5"/>
          <p:cNvSpPr>
            <a:spLocks noGrp="1"/>
          </p:cNvSpPr>
          <p:nvPr>
            <p:ph sz="quarter" idx="4"/>
          </p:nvPr>
        </p:nvSpPr>
        <p:spPr>
          <a:xfrm>
            <a:off x="6172200" y="2505075"/>
            <a:ext cx="5183188" cy="3684588"/>
          </a:xfrm>
        </p:spPr>
        <p:txBody>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7" name="日期占位符 6"/>
          <p:cNvSpPr>
            <a:spLocks noGrp="1"/>
          </p:cNvSpPr>
          <p:nvPr>
            <p:ph type="dt" sz="half" idx="10"/>
          </p:nvPr>
        </p:nvSpPr>
        <p:spPr/>
        <p:txBody>
          <a:bodyPr/>
          <a:lstStyle/>
          <a:p>
            <a:fld id="{D997B5FA-0921-464F-AAE1-844C04324D75}" type="datetimeFigureOut">
              <a:rPr lang="zh-CN" altLang="en-US" smtClean="0"/>
            </a:fld>
            <a:endParaRPr lang="zh-CN" altLang="en-US"/>
          </a:p>
        </p:txBody>
      </p:sp>
      <p:sp>
        <p:nvSpPr>
          <p:cNvPr id="8" name="页脚占位符 7"/>
          <p:cNvSpPr>
            <a:spLocks noGrp="1"/>
          </p:cNvSpPr>
          <p:nvPr>
            <p:ph type="ftr" sz="quarter" idx="11"/>
          </p:nvPr>
        </p:nvSpPr>
        <p:spPr/>
        <p:txBody>
          <a:bodyPr/>
          <a:lstStyle/>
          <a:p>
            <a:endParaRPr lang="zh-CN" altLang="en-US"/>
          </a:p>
        </p:txBody>
      </p:sp>
      <p:sp>
        <p:nvSpPr>
          <p:cNvPr id="9" name="灯片编号占位符 8"/>
          <p:cNvSpPr>
            <a:spLocks noGrp="1"/>
          </p:cNvSpPr>
          <p:nvPr>
            <p:ph type="sldNum" sz="quarter" idx="12"/>
          </p:nvPr>
        </p:nvSpPr>
        <p:spPr/>
        <p:txBody>
          <a:bodyPr/>
          <a:lstStyle/>
          <a:p>
            <a:fld id="{565CE74E-AB26-4998-AD42-012C4C1AD076}" type="slidenum">
              <a:rPr lang="zh-CN" altLang="en-US" smtClean="0"/>
            </a:fld>
            <a:endParaRPr lang="zh-CN" alt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日期占位符 2"/>
          <p:cNvSpPr>
            <a:spLocks noGrp="1"/>
          </p:cNvSpPr>
          <p:nvPr>
            <p:ph type="dt" sz="half" idx="10"/>
          </p:nvPr>
        </p:nvSpPr>
        <p:spPr/>
        <p:txBody>
          <a:bodyPr/>
          <a:lstStyle/>
          <a:p>
            <a:fld id="{D997B5FA-0921-464F-AAE1-844C04324D75}" type="datetimeFigureOut">
              <a:rPr lang="zh-CN" altLang="en-US" smtClean="0"/>
            </a:fld>
            <a:endParaRPr lang="zh-CN" altLang="en-US"/>
          </a:p>
        </p:txBody>
      </p:sp>
      <p:sp>
        <p:nvSpPr>
          <p:cNvPr id="4" name="页脚占位符 3"/>
          <p:cNvSpPr>
            <a:spLocks noGrp="1"/>
          </p:cNvSpPr>
          <p:nvPr>
            <p:ph type="ftr" sz="quarter" idx="11"/>
          </p:nvPr>
        </p:nvSpPr>
        <p:spPr/>
        <p:txBody>
          <a:bodyPr/>
          <a:lstStyle/>
          <a:p>
            <a:endParaRPr lang="zh-CN" altLang="en-US"/>
          </a:p>
        </p:txBody>
      </p:sp>
      <p:sp>
        <p:nvSpPr>
          <p:cNvPr id="5" name="灯片编号占位符 4"/>
          <p:cNvSpPr>
            <a:spLocks noGrp="1"/>
          </p:cNvSpPr>
          <p:nvPr>
            <p:ph type="sldNum" sz="quarter" idx="12"/>
          </p:nvPr>
        </p:nvSpPr>
        <p:spPr/>
        <p:txBody>
          <a:bodyPr/>
          <a:lstStyle/>
          <a:p>
            <a:fld id="{565CE74E-AB26-4998-AD42-012C4C1AD076}" type="slidenum">
              <a:rPr lang="zh-CN" altLang="en-US" smtClean="0"/>
            </a:fld>
            <a:endParaRPr lang="zh-CN" alt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fld id="{D997B5FA-0921-464F-AAE1-844C04324D75}" type="datetimeFigureOut">
              <a:rPr lang="zh-CN" altLang="en-US" smtClean="0"/>
            </a:fld>
            <a:endParaRPr lang="zh-CN" altLang="en-US"/>
          </a:p>
        </p:txBody>
      </p:sp>
      <p:sp>
        <p:nvSpPr>
          <p:cNvPr id="3" name="页脚占位符 2"/>
          <p:cNvSpPr>
            <a:spLocks noGrp="1"/>
          </p:cNvSpPr>
          <p:nvPr>
            <p:ph type="ftr" sz="quarter" idx="11"/>
          </p:nvPr>
        </p:nvSpPr>
        <p:spPr/>
        <p:txBody>
          <a:bodyPr/>
          <a:lstStyle/>
          <a:p>
            <a:endParaRPr lang="zh-CN" altLang="en-US"/>
          </a:p>
        </p:txBody>
      </p:sp>
      <p:sp>
        <p:nvSpPr>
          <p:cNvPr id="4" name="灯片编号占位符 3"/>
          <p:cNvSpPr>
            <a:spLocks noGrp="1"/>
          </p:cNvSpPr>
          <p:nvPr>
            <p:ph type="sldNum" sz="quarter" idx="12"/>
          </p:nvPr>
        </p:nvSpPr>
        <p:spPr/>
        <p:txBody>
          <a:bodyPr/>
          <a:lstStyle/>
          <a:p>
            <a:fld id="{565CE74E-AB26-4998-AD42-012C4C1AD076}" type="slidenum">
              <a:rPr lang="zh-CN" altLang="en-US" smtClean="0"/>
            </a:fld>
            <a:endParaRPr lang="zh-CN" alt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839788" y="457200"/>
            <a:ext cx="3932237" cy="1600200"/>
          </a:xfrm>
        </p:spPr>
        <p:txBody>
          <a:bodyPr anchor="b"/>
          <a:lstStyle>
            <a:lvl1pPr>
              <a:defRPr sz="3200"/>
            </a:lvl1pPr>
          </a:lstStyle>
          <a:p>
            <a:r>
              <a:rPr lang="zh-CN" altLang="en-US" smtClean="0"/>
              <a:t>单击此处编辑母版标题样式</a:t>
            </a:r>
            <a:endParaRPr lang="zh-CN" altLang="en-US"/>
          </a:p>
        </p:txBody>
      </p:sp>
      <p:sp>
        <p:nvSpPr>
          <p:cNvPr id="3" name="内容占位符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文本占位符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smtClean="0"/>
              <a:t>单击此处编辑母版文本样式</a:t>
            </a:r>
            <a:endParaRPr lang="zh-CN" altLang="en-US" smtClean="0"/>
          </a:p>
        </p:txBody>
      </p:sp>
      <p:sp>
        <p:nvSpPr>
          <p:cNvPr id="5" name="日期占位符 4"/>
          <p:cNvSpPr>
            <a:spLocks noGrp="1"/>
          </p:cNvSpPr>
          <p:nvPr>
            <p:ph type="dt" sz="half" idx="10"/>
          </p:nvPr>
        </p:nvSpPr>
        <p:spPr/>
        <p:txBody>
          <a:bodyPr/>
          <a:lstStyle/>
          <a:p>
            <a:fld id="{D997B5FA-0921-464F-AAE1-844C04324D75}" type="datetimeFigureOut">
              <a:rPr lang="zh-CN" altLang="en-US" smtClean="0"/>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565CE74E-AB26-4998-AD42-012C4C1AD076}" type="slidenum">
              <a:rPr lang="zh-CN" altLang="en-US" smtClean="0"/>
            </a:fld>
            <a:endParaRPr lang="zh-CN" alt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839788" y="457200"/>
            <a:ext cx="3932237" cy="1600200"/>
          </a:xfrm>
        </p:spPr>
        <p:txBody>
          <a:bodyPr anchor="b"/>
          <a:lstStyle>
            <a:lvl1pPr>
              <a:defRPr sz="3200"/>
            </a:lvl1pPr>
          </a:lstStyle>
          <a:p>
            <a:r>
              <a:rPr lang="zh-CN" altLang="en-US" smtClean="0"/>
              <a:t>单击此处编辑母版标题样式</a:t>
            </a:r>
            <a:endParaRPr lang="zh-CN" altLang="en-US"/>
          </a:p>
        </p:txBody>
      </p:sp>
      <p:sp>
        <p:nvSpPr>
          <p:cNvPr id="3" name="图片占位符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CN" altLang="en-US"/>
          </a:p>
        </p:txBody>
      </p:sp>
      <p:sp>
        <p:nvSpPr>
          <p:cNvPr id="4" name="文本占位符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smtClean="0"/>
              <a:t>单击此处编辑母版文本样式</a:t>
            </a:r>
            <a:endParaRPr lang="zh-CN" altLang="en-US" smtClean="0"/>
          </a:p>
        </p:txBody>
      </p:sp>
      <p:sp>
        <p:nvSpPr>
          <p:cNvPr id="5" name="日期占位符 4"/>
          <p:cNvSpPr>
            <a:spLocks noGrp="1"/>
          </p:cNvSpPr>
          <p:nvPr>
            <p:ph type="dt" sz="half" idx="10"/>
          </p:nvPr>
        </p:nvSpPr>
        <p:spPr/>
        <p:txBody>
          <a:bodyPr/>
          <a:lstStyle/>
          <a:p>
            <a:fld id="{D997B5FA-0921-464F-AAE1-844C04324D75}" type="datetimeFigureOut">
              <a:rPr lang="zh-CN" altLang="en-US" smtClean="0"/>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565CE74E-AB26-4998-AD42-012C4C1AD076}" type="slidenum">
              <a:rPr lang="zh-CN" altLang="en-US" smtClean="0"/>
            </a:fld>
            <a:endParaRPr lang="zh-CN" alt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竖排文字占位符 2"/>
          <p:cNvSpPr>
            <a:spLocks noGrp="1"/>
          </p:cNvSpPr>
          <p:nvPr>
            <p:ph type="body" orient="vert" idx="1"/>
          </p:nvPr>
        </p:nvSpPr>
        <p:spPr/>
        <p:txBody>
          <a:bodyPr vert="eaVert"/>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日期占位符 3"/>
          <p:cNvSpPr>
            <a:spLocks noGrp="1"/>
          </p:cNvSpPr>
          <p:nvPr>
            <p:ph type="dt" sz="half" idx="10"/>
          </p:nvPr>
        </p:nvSpPr>
        <p:spPr/>
        <p:txBody>
          <a:bodyPr/>
          <a:lstStyle/>
          <a:p>
            <a:fld id="{D997B5FA-0921-464F-AAE1-844C04324D75}"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565CE74E-AB26-4998-AD42-012C4C1AD076}" type="slidenum">
              <a:rPr lang="zh-CN" altLang="en-US" smtClean="0"/>
            </a:fld>
            <a:endParaRPr lang="zh-CN" alt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垂直排列标题与&#10;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8724900" y="365125"/>
            <a:ext cx="2628900" cy="5811838"/>
          </a:xfrm>
        </p:spPr>
        <p:txBody>
          <a:bodyPr vert="eaVert"/>
          <a:lstStyle/>
          <a:p>
            <a:r>
              <a:rPr lang="zh-CN" altLang="en-US" smtClean="0"/>
              <a:t>单击此处编辑母版标题样式</a:t>
            </a:r>
            <a:endParaRPr lang="zh-CN" altLang="en-US"/>
          </a:p>
        </p:txBody>
      </p:sp>
      <p:sp>
        <p:nvSpPr>
          <p:cNvPr id="3" name="竖排文字占位符 2"/>
          <p:cNvSpPr>
            <a:spLocks noGrp="1"/>
          </p:cNvSpPr>
          <p:nvPr>
            <p:ph type="body" orient="vert" idx="1"/>
          </p:nvPr>
        </p:nvSpPr>
        <p:spPr>
          <a:xfrm>
            <a:off x="838200" y="365125"/>
            <a:ext cx="7734300" cy="5811838"/>
          </a:xfrm>
        </p:spPr>
        <p:txBody>
          <a:bodyPr vert="eaVert"/>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日期占位符 3"/>
          <p:cNvSpPr>
            <a:spLocks noGrp="1"/>
          </p:cNvSpPr>
          <p:nvPr>
            <p:ph type="dt" sz="half" idx="10"/>
          </p:nvPr>
        </p:nvSpPr>
        <p:spPr/>
        <p:txBody>
          <a:bodyPr/>
          <a:lstStyle/>
          <a:p>
            <a:fld id="{D997B5FA-0921-464F-AAE1-844C04324D75}"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565CE74E-AB26-4998-AD42-012C4C1AD076}" type="slidenum">
              <a:rPr lang="zh-CN" altLang="en-US" smtClean="0"/>
            </a:fld>
            <a:endParaRPr lang="zh-CN" altLang="en-US"/>
          </a:p>
        </p:txBody>
      </p:sp>
    </p:spTree>
  </p:cSld>
  <p:clrMapOvr>
    <a:masterClrMapping/>
  </p:clrMapOvr>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2" Type="http://schemas.openxmlformats.org/officeDocument/2006/relationships/theme" Target="../theme/theme1.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标题占位符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zh-CN" altLang="en-US" smtClean="0"/>
              <a:t>单击此处编辑母版标题样式</a:t>
            </a:r>
            <a:endParaRPr lang="zh-CN" altLang="en-US"/>
          </a:p>
        </p:txBody>
      </p:sp>
      <p:sp>
        <p:nvSpPr>
          <p:cNvPr id="3" name="文本占位符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日期占位符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D997B5FA-0921-464F-AAE1-844C04324D75}" type="datetimeFigureOut">
              <a:rPr lang="zh-CN" altLang="en-US" smtClean="0"/>
            </a:fld>
            <a:endParaRPr lang="zh-CN" altLang="en-US"/>
          </a:p>
        </p:txBody>
      </p:sp>
      <p:sp>
        <p:nvSpPr>
          <p:cNvPr id="5" name="页脚占位符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zh-CN" altLang="en-US"/>
          </a:p>
        </p:txBody>
      </p:sp>
      <p:sp>
        <p:nvSpPr>
          <p:cNvPr id="6" name="灯片编号占位符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565CE74E-AB26-4998-AD42-012C4C1AD076}" type="slidenum">
              <a:rPr lang="zh-CN" altLang="en-US" smtClean="0"/>
            </a:fld>
            <a:endParaRPr lang="zh-CN" alt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slideLayout" Target="../slideLayouts/slideLayout1.xml"/><Relationship Id="rId1" Type="http://schemas.openxmlformats.org/officeDocument/2006/relationships/image" Target="../media/image1.png"/></Relationships>
</file>

<file path=ppt/slides/_rels/slide3.xml.rels><?xml version="1.0" encoding="UTF-8" standalone="yes"?>
<Relationships xmlns="http://schemas.openxmlformats.org/package/2006/relationships"><Relationship Id="rId2" Type="http://schemas.openxmlformats.org/officeDocument/2006/relationships/slideLayout" Target="../slideLayouts/slideLayout1.xml"/><Relationship Id="rId1" Type="http://schemas.openxmlformats.org/officeDocument/2006/relationships/image" Target="../media/image2.png"/></Relationships>
</file>

<file path=ppt/slides/_rels/slide4.xml.rels><?xml version="1.0" encoding="UTF-8" standalone="yes"?>
<Relationships xmlns="http://schemas.openxmlformats.org/package/2006/relationships"><Relationship Id="rId2" Type="http://schemas.openxmlformats.org/officeDocument/2006/relationships/slideLayout" Target="../slideLayouts/slideLayout1.xml"/><Relationship Id="rId1" Type="http://schemas.openxmlformats.org/officeDocument/2006/relationships/image" Target="../media/image3.jpe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slideLayout" Target="../slideLayouts/slideLayout1.xml"/><Relationship Id="rId1" Type="http://schemas.openxmlformats.org/officeDocument/2006/relationships/image" Target="../media/image4.jpeg"/></Relationships>
</file>

<file path=ppt/slides/_rels/slide7.xml.rels><?xml version="1.0" encoding="UTF-8" standalone="yes"?>
<Relationships xmlns="http://schemas.openxmlformats.org/package/2006/relationships"><Relationship Id="rId2" Type="http://schemas.openxmlformats.org/officeDocument/2006/relationships/slideLayout" Target="../slideLayouts/slideLayout1.xml"/><Relationship Id="rId1" Type="http://schemas.openxmlformats.org/officeDocument/2006/relationships/image" Target="../media/image5.png"/></Relationships>
</file>

<file path=ppt/slides/_rels/slide8.xml.rels><?xml version="1.0" encoding="UTF-8" standalone="yes"?>
<Relationships xmlns="http://schemas.openxmlformats.org/package/2006/relationships"><Relationship Id="rId2" Type="http://schemas.openxmlformats.org/officeDocument/2006/relationships/slideLayout" Target="../slideLayouts/slideLayout1.xml"/><Relationship Id="rId1" Type="http://schemas.openxmlformats.org/officeDocument/2006/relationships/image" Target="../media/image6.jpeg"/></Relationships>
</file>

<file path=ppt/slides/_rels/slide9.xml.rels><?xml version="1.0" encoding="UTF-8" standalone="yes"?>
<Relationships xmlns="http://schemas.openxmlformats.org/package/2006/relationships"><Relationship Id="rId2" Type="http://schemas.openxmlformats.org/officeDocument/2006/relationships/slideLayout" Target="../slideLayouts/slideLayout1.xml"/><Relationship Id="rId1" Type="http://schemas.openxmlformats.org/officeDocument/2006/relationships/image" Target="../media/image7.jpe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ctrTitle"/>
          </p:nvPr>
        </p:nvSpPr>
        <p:spPr>
          <a:xfrm>
            <a:off x="1524000" y="1122680"/>
            <a:ext cx="9144000" cy="1176020"/>
          </a:xfrm>
        </p:spPr>
        <p:txBody>
          <a:bodyPr anchor="t" anchorCtr="0">
            <a:normAutofit/>
          </a:bodyPr>
          <a:p>
            <a:pPr marL="857250" indent="-857250" algn="l">
              <a:buFont typeface="Arial" panose="020B0604020202020204" pitchFamily="34" charset="0"/>
              <a:buChar char="•"/>
            </a:pPr>
            <a:r>
              <a:rPr lang="fr-CA" altLang="zh-CN"/>
              <a:t>Kaggle</a:t>
            </a:r>
            <a:endParaRPr lang="fr-CA" altLang="zh-CN"/>
          </a:p>
        </p:txBody>
      </p:sp>
      <p:sp>
        <p:nvSpPr>
          <p:cNvPr id="3" name="副标题 2"/>
          <p:cNvSpPr>
            <a:spLocks noGrp="1"/>
          </p:cNvSpPr>
          <p:nvPr>
            <p:ph type="subTitle" idx="1"/>
          </p:nvPr>
        </p:nvSpPr>
        <p:spPr>
          <a:xfrm>
            <a:off x="1524000" y="2298065"/>
            <a:ext cx="9144000" cy="4136390"/>
          </a:xfrm>
        </p:spPr>
        <p:txBody>
          <a:bodyPr>
            <a:normAutofit fontScale="60000"/>
          </a:bodyPr>
          <a:p>
            <a:pPr marL="342900" indent="-342900" algn="l">
              <a:buFont typeface="Arial" panose="020B0604020202020204" pitchFamily="34" charset="0"/>
              <a:buChar char="•"/>
            </a:pPr>
            <a:r>
              <a:rPr lang="en-US" altLang="fr-CA" sz="10000">
                <a:sym typeface="+mn-ea"/>
              </a:rPr>
              <a:t>   </a:t>
            </a:r>
            <a:r>
              <a:rPr lang="fr-CA" altLang="zh-CN" sz="10000">
                <a:sym typeface="+mn-ea"/>
              </a:rPr>
              <a:t>Img 2 Biomass Contest</a:t>
            </a:r>
            <a:endParaRPr lang="fr-CA" altLang="zh-CN" sz="10000">
              <a:sym typeface="+mn-ea"/>
            </a:endParaRPr>
          </a:p>
          <a:p>
            <a:pPr algn="l">
              <a:buFont typeface="Wingdings" panose="05000000000000000000" charset="0"/>
            </a:pPr>
            <a:endParaRPr lang="en-US" altLang="fr-CA" sz="6000">
              <a:sym typeface="+mn-ea"/>
            </a:endParaRPr>
          </a:p>
          <a:p>
            <a:pPr algn="l">
              <a:buFont typeface="Wingdings" panose="05000000000000000000" charset="0"/>
            </a:pPr>
            <a:r>
              <a:rPr lang="en-US" altLang="fr-CA" sz="6000">
                <a:sym typeface="+mn-ea"/>
              </a:rPr>
              <a:t>---     </a:t>
            </a:r>
            <a:r>
              <a:rPr lang="fr-CA" altLang="zh-CN" sz="6000">
                <a:sym typeface="+mn-ea"/>
              </a:rPr>
              <a:t>background</a:t>
            </a:r>
            <a:r>
              <a:rPr lang="en-US" altLang="fr-CA" sz="6000">
                <a:sym typeface="+mn-ea"/>
              </a:rPr>
              <a:t> &amp; dataset</a:t>
            </a:r>
            <a:r>
              <a:rPr lang="fr-CA" altLang="zh-CN" sz="6000">
                <a:sym typeface="+mn-ea"/>
              </a:rPr>
              <a:t>: img of pasture</a:t>
            </a:r>
            <a:r>
              <a:rPr lang="en-US" altLang="fr-CA" sz="6000">
                <a:sym typeface="+mn-ea"/>
              </a:rPr>
              <a:t> taken by phone-&gt;estimation of the amount of green and </a:t>
            </a:r>
            <a:r>
              <a:rPr lang="en-US" altLang="zh-CN" sz="6000">
                <a:sym typeface="+mn-ea"/>
              </a:rPr>
              <a:t>withered grass</a:t>
            </a:r>
            <a:endParaRPr lang="en-US" altLang="zh-CN" sz="6000">
              <a:sym typeface="+mn-ea"/>
            </a:endParaRPr>
          </a:p>
        </p:txBody>
      </p:sp>
      <p:sp>
        <p:nvSpPr>
          <p:cNvPr id="4" name="矩形 3"/>
          <p:cNvSpPr/>
          <p:nvPr/>
        </p:nvSpPr>
        <p:spPr>
          <a:xfrm>
            <a:off x="126365" y="104775"/>
            <a:ext cx="4741545" cy="592455"/>
          </a:xfrm>
          <a:prstGeom prst="rect">
            <a:avLst/>
          </a:prstGeom>
          <a:ln>
            <a:no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r>
              <a:rPr lang="en-US" altLang="zh-CN"/>
              <a:t>Guorun Huang</a:t>
            </a:r>
            <a:r>
              <a:rPr lang="zh-CN" altLang="en-US"/>
              <a:t>，</a:t>
            </a:r>
            <a:r>
              <a:rPr lang="en-US" altLang="zh-CN"/>
              <a:t> PatternRecognition and ComputerVision 25Fall Final </a:t>
            </a:r>
            <a:r>
              <a:rPr lang="en-US" altLang="zh-CN"/>
              <a:t>Project</a:t>
            </a:r>
            <a:endParaRPr lang="en-US" altLang="zh-CN"/>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 name="副标题 2"/>
          <p:cNvSpPr>
            <a:spLocks noGrp="1"/>
          </p:cNvSpPr>
          <p:nvPr>
            <p:ph type="subTitle" idx="1"/>
          </p:nvPr>
        </p:nvSpPr>
        <p:spPr>
          <a:xfrm>
            <a:off x="677545" y="774065"/>
            <a:ext cx="11026140" cy="4136390"/>
          </a:xfrm>
        </p:spPr>
        <p:txBody>
          <a:bodyPr>
            <a:normAutofit/>
          </a:bodyPr>
          <a:p>
            <a:pPr algn="l">
              <a:buFont typeface="Arial" panose="020B0604020202020204" pitchFamily="34" charset="0"/>
            </a:pPr>
            <a:r>
              <a:rPr lang="en-US" altLang="fr-CA" sz="6000">
                <a:sym typeface="+mn-ea"/>
              </a:rPr>
              <a:t>Model1</a:t>
            </a:r>
            <a:r>
              <a:rPr lang="zh-CN" altLang="en-US" sz="6000">
                <a:sym typeface="+mn-ea"/>
              </a:rPr>
              <a:t>：</a:t>
            </a:r>
            <a:r>
              <a:rPr lang="fr-CA" altLang="zh-CN" sz="6000">
                <a:sym typeface="+mn-ea"/>
              </a:rPr>
              <a:t>Img </a:t>
            </a:r>
            <a:r>
              <a:rPr lang="en-US" altLang="fr-CA" sz="6000">
                <a:sym typeface="+mn-ea"/>
              </a:rPr>
              <a:t>-&gt;feature -&gt;XGBoost</a:t>
            </a:r>
            <a:endParaRPr lang="fr-CA" altLang="zh-CN" sz="6000">
              <a:sym typeface="+mn-ea"/>
            </a:endParaRPr>
          </a:p>
          <a:p>
            <a:pPr algn="l">
              <a:buFont typeface="Wingdings" panose="05000000000000000000" charset="0"/>
            </a:pPr>
            <a:endParaRPr lang="en-US" altLang="fr-CA" sz="6000">
              <a:sym typeface="+mn-ea"/>
            </a:endParaRPr>
          </a:p>
          <a:p>
            <a:pPr algn="l">
              <a:buFont typeface="Wingdings" panose="05000000000000000000" charset="0"/>
            </a:pPr>
            <a:endParaRPr lang="en-US" altLang="zh-CN" sz="6000">
              <a:sym typeface="+mn-ea"/>
            </a:endParaRPr>
          </a:p>
        </p:txBody>
      </p:sp>
      <p:sp>
        <p:nvSpPr>
          <p:cNvPr id="5" name="矩形 4"/>
          <p:cNvSpPr/>
          <p:nvPr/>
        </p:nvSpPr>
        <p:spPr>
          <a:xfrm>
            <a:off x="419100" y="2040890"/>
            <a:ext cx="5356860" cy="4487545"/>
          </a:xfrm>
          <a:prstGeom prst="rect">
            <a:avLst/>
          </a:prstGeom>
          <a:noFill/>
          <a:ln>
            <a:noFill/>
          </a:ln>
          <a:extLst>
            <a:ext uri="{909E8E84-426E-40DD-AFC4-6F175D3DCCD1}">
              <a14:hiddenFill xmlns:a14="http://schemas.microsoft.com/office/drawing/2010/main">
                <a:solidFill>
                  <a:schemeClr val="accent1"/>
                </a:solidFill>
              </a14:hiddenFill>
            </a:ext>
          </a:extLst>
        </p:spPr>
        <p:style>
          <a:lnRef idx="2">
            <a:schemeClr val="accent1">
              <a:lumMod val="75000"/>
            </a:schemeClr>
          </a:lnRef>
          <a:fillRef idx="1">
            <a:schemeClr val="accent1"/>
          </a:fillRef>
          <a:effectRef idx="0">
            <a:srgbClr val="FFFFFF"/>
          </a:effectRef>
          <a:fontRef idx="minor">
            <a:schemeClr val="lt1"/>
          </a:fontRef>
        </p:style>
        <p:txBody>
          <a:bodyPr rtlCol="0" anchor="ctr"/>
          <a:p>
            <a:pPr algn="l">
              <a:buFont typeface="Wingdings" panose="05000000000000000000" charset="0"/>
            </a:pPr>
            <a:r>
              <a:rPr lang="en-US" altLang="zh-CN" sz="2400">
                <a:solidFill>
                  <a:schemeClr val="tx1"/>
                </a:solidFill>
                <a:sym typeface="+mn-ea"/>
              </a:rPr>
              <a:t>XGBoost is a decision-tree algorithm and a frequent winner in data science competitions like Kaggle.</a:t>
            </a:r>
            <a:endParaRPr lang="en-US" altLang="zh-CN" sz="2400">
              <a:solidFill>
                <a:schemeClr val="tx1"/>
              </a:solidFill>
              <a:sym typeface="+mn-ea"/>
            </a:endParaRPr>
          </a:p>
          <a:p>
            <a:pPr algn="l">
              <a:buFont typeface="Wingdings" panose="05000000000000000000" charset="0"/>
            </a:pPr>
            <a:endParaRPr lang="en-US" altLang="zh-CN" sz="2400">
              <a:solidFill>
                <a:schemeClr val="tx1"/>
              </a:solidFill>
              <a:sym typeface="+mn-ea"/>
            </a:endParaRPr>
          </a:p>
          <a:p>
            <a:pPr algn="l">
              <a:buFont typeface="Wingdings" panose="05000000000000000000" charset="0"/>
            </a:pPr>
            <a:r>
              <a:rPr lang="en-US" altLang="zh-CN" sz="2400">
                <a:solidFill>
                  <a:schemeClr val="tx1"/>
                </a:solidFill>
                <a:sym typeface="+mn-ea"/>
              </a:rPr>
              <a:t>Think of it as a "team of top students." The first student solves a problem. The second student focuses on fixing the first one's mistakes. The third student corrects the errors made by the previous two, and so on. Finally, the team combines their insights to produce a highly accurate answer.</a:t>
            </a:r>
            <a:endParaRPr lang="en-US" altLang="zh-CN" sz="2400">
              <a:solidFill>
                <a:schemeClr val="tx1"/>
              </a:solidFill>
              <a:sym typeface="+mn-ea"/>
            </a:endParaRPr>
          </a:p>
          <a:p>
            <a:pPr algn="ctr"/>
            <a:endParaRPr lang="en-US" altLang="zh-CN" sz="2400">
              <a:solidFill>
                <a:schemeClr val="tx1"/>
              </a:solidFill>
              <a:sym typeface="+mn-ea"/>
            </a:endParaRPr>
          </a:p>
        </p:txBody>
      </p:sp>
      <p:pic>
        <p:nvPicPr>
          <p:cNvPr id="6" name="图片 2"/>
          <p:cNvPicPr>
            <a:picLocks noChangeAspect="1"/>
          </p:cNvPicPr>
          <p:nvPr/>
        </p:nvPicPr>
        <p:blipFill>
          <a:blip r:embed="rId1"/>
          <a:srcRect l="2638" r="29109"/>
          <a:stretch>
            <a:fillRect/>
          </a:stretch>
        </p:blipFill>
        <p:spPr>
          <a:xfrm>
            <a:off x="5843270" y="1918970"/>
            <a:ext cx="6153785" cy="3984625"/>
          </a:xfrm>
          <a:prstGeom prst="rect">
            <a:avLst/>
          </a:prstGeom>
          <a:noFill/>
          <a:ln>
            <a:noFill/>
          </a:ln>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2" name="图片 1"/>
          <p:cNvPicPr/>
          <p:nvPr/>
        </p:nvPicPr>
        <p:blipFill>
          <a:blip r:embed="rId1"/>
          <a:stretch>
            <a:fillRect/>
          </a:stretch>
        </p:blipFill>
        <p:spPr>
          <a:xfrm>
            <a:off x="5057140" y="1671320"/>
            <a:ext cx="7134860" cy="5186680"/>
          </a:xfrm>
          <a:prstGeom prst="rect">
            <a:avLst/>
          </a:prstGeom>
        </p:spPr>
      </p:pic>
      <p:sp>
        <p:nvSpPr>
          <p:cNvPr id="3" name="副标题 2"/>
          <p:cNvSpPr>
            <a:spLocks noGrp="1"/>
          </p:cNvSpPr>
          <p:nvPr>
            <p:ph type="subTitle" idx="1"/>
          </p:nvPr>
        </p:nvSpPr>
        <p:spPr>
          <a:xfrm>
            <a:off x="677545" y="774065"/>
            <a:ext cx="11026140" cy="4136390"/>
          </a:xfrm>
        </p:spPr>
        <p:txBody>
          <a:bodyPr>
            <a:normAutofit/>
          </a:bodyPr>
          <a:p>
            <a:pPr algn="l">
              <a:buFont typeface="Arial" panose="020B0604020202020204" pitchFamily="34" charset="0"/>
            </a:pPr>
            <a:r>
              <a:rPr lang="en-US" altLang="fr-CA" sz="6000">
                <a:sym typeface="+mn-ea"/>
              </a:rPr>
              <a:t>Model2</a:t>
            </a:r>
            <a:r>
              <a:rPr lang="zh-CN" altLang="en-US" sz="6000">
                <a:sym typeface="+mn-ea"/>
              </a:rPr>
              <a:t>：</a:t>
            </a:r>
            <a:r>
              <a:rPr lang="fr-CA" altLang="zh-CN" sz="6000">
                <a:sym typeface="+mn-ea"/>
              </a:rPr>
              <a:t>Img </a:t>
            </a:r>
            <a:r>
              <a:rPr lang="en-US" altLang="fr-CA" sz="6000">
                <a:sym typeface="+mn-ea"/>
              </a:rPr>
              <a:t>-&gt;feature -&gt;</a:t>
            </a:r>
            <a:r>
              <a:rPr lang="en-US" altLang="fr-CA" sz="6000">
                <a:sym typeface="+mn-ea"/>
              </a:rPr>
              <a:t>MLP</a:t>
            </a:r>
            <a:endParaRPr lang="en-US" altLang="fr-CA" sz="6000">
              <a:sym typeface="+mn-ea"/>
            </a:endParaRPr>
          </a:p>
          <a:p>
            <a:pPr algn="l">
              <a:buFont typeface="Wingdings" panose="05000000000000000000" charset="0"/>
            </a:pPr>
            <a:endParaRPr lang="en-US" altLang="zh-CN" sz="6000">
              <a:sym typeface="+mn-ea"/>
            </a:endParaRPr>
          </a:p>
        </p:txBody>
      </p:sp>
      <p:sp>
        <p:nvSpPr>
          <p:cNvPr id="5" name="矩形 4"/>
          <p:cNvSpPr/>
          <p:nvPr/>
        </p:nvSpPr>
        <p:spPr>
          <a:xfrm>
            <a:off x="419100" y="2040890"/>
            <a:ext cx="5356860" cy="4487545"/>
          </a:xfrm>
          <a:prstGeom prst="rect">
            <a:avLst/>
          </a:prstGeom>
          <a:noFill/>
          <a:ln>
            <a:noFill/>
          </a:ln>
          <a:extLst>
            <a:ext uri="{909E8E84-426E-40DD-AFC4-6F175D3DCCD1}">
              <a14:hiddenFill xmlns:a14="http://schemas.microsoft.com/office/drawing/2010/main">
                <a:solidFill>
                  <a:schemeClr val="accent1"/>
                </a:solidFill>
              </a14:hiddenFill>
            </a:ext>
          </a:extLst>
        </p:spPr>
        <p:style>
          <a:lnRef idx="2">
            <a:schemeClr val="accent1">
              <a:lumMod val="75000"/>
            </a:schemeClr>
          </a:lnRef>
          <a:fillRef idx="1">
            <a:schemeClr val="accent1"/>
          </a:fillRef>
          <a:effectRef idx="0">
            <a:srgbClr val="FFFFFF"/>
          </a:effectRef>
          <a:fontRef idx="minor">
            <a:schemeClr val="lt1"/>
          </a:fontRef>
        </p:style>
        <p:txBody>
          <a:bodyPr rtlCol="0" anchor="ctr"/>
          <a:p>
            <a:pPr algn="l">
              <a:buFont typeface="Wingdings" panose="05000000000000000000" charset="0"/>
            </a:pPr>
            <a:r>
              <a:rPr lang="en-US" altLang="zh-CN" sz="2400">
                <a:solidFill>
                  <a:schemeClr val="tx1"/>
                </a:solidFill>
                <a:sym typeface="+mn-ea"/>
              </a:rPr>
              <a:t>A multilayer perceptron (MLP) neural network model was employed in this study. It is one of the simplest forms of an ANN. </a:t>
            </a:r>
            <a:endParaRPr lang="en-US" altLang="zh-CN" sz="2400">
              <a:solidFill>
                <a:schemeClr val="tx1"/>
              </a:solidFill>
              <a:sym typeface="+mn-ea"/>
            </a:endParaRPr>
          </a:p>
          <a:p>
            <a:pPr marL="342900" indent="-342900" algn="l">
              <a:buFont typeface="Arial" panose="020B0604020202020204" pitchFamily="34" charset="0"/>
              <a:buChar char="•"/>
            </a:pPr>
            <a:r>
              <a:rPr lang="en-US" altLang="zh-CN" sz="2400">
                <a:solidFill>
                  <a:schemeClr val="tx1"/>
                </a:solidFill>
                <a:sym typeface="+mn-ea"/>
              </a:rPr>
              <a:t>two hidden layers (64 nodes each) and one output </a:t>
            </a:r>
            <a:endParaRPr lang="en-US" altLang="zh-CN" sz="2400">
              <a:solidFill>
                <a:schemeClr val="tx1"/>
              </a:solidFill>
              <a:sym typeface="+mn-ea"/>
            </a:endParaRPr>
          </a:p>
          <a:p>
            <a:pPr marL="342900" indent="-342900" algn="l">
              <a:buFont typeface="Arial" panose="020B0604020202020204" pitchFamily="34" charset="0"/>
              <a:buChar char="•"/>
            </a:pPr>
            <a:r>
              <a:rPr lang="en-US" altLang="zh-CN" sz="2400">
                <a:solidFill>
                  <a:schemeClr val="tx1"/>
                </a:solidFill>
                <a:sym typeface="+mn-ea"/>
              </a:rPr>
              <a:t>activation function - rectified linear unit and the </a:t>
            </a:r>
            <a:endParaRPr lang="en-US" altLang="zh-CN" sz="2400">
              <a:solidFill>
                <a:schemeClr val="tx1"/>
              </a:solidFill>
              <a:sym typeface="+mn-ea"/>
            </a:endParaRPr>
          </a:p>
          <a:p>
            <a:pPr marL="342900" indent="-342900" algn="l">
              <a:buFont typeface="Arial" panose="020B0604020202020204" pitchFamily="34" charset="0"/>
              <a:buChar char="•"/>
            </a:pPr>
            <a:r>
              <a:rPr lang="en-US" altLang="zh-CN" sz="2400">
                <a:solidFill>
                  <a:schemeClr val="tx1"/>
                </a:solidFill>
                <a:sym typeface="+mn-ea"/>
              </a:rPr>
              <a:t>optimisation algorithm - Adam </a:t>
            </a:r>
            <a:endParaRPr lang="en-US" altLang="zh-CN" sz="2400">
              <a:solidFill>
                <a:schemeClr val="tx1"/>
              </a:solidFill>
              <a:sym typeface="+mn-ea"/>
            </a:endParaRPr>
          </a:p>
          <a:p>
            <a:pPr marL="342900" indent="-342900" algn="l">
              <a:buFont typeface="Arial" panose="020B0604020202020204" pitchFamily="34" charset="0"/>
              <a:buChar char="•"/>
            </a:pPr>
            <a:r>
              <a:rPr lang="en-US" altLang="zh-CN" sz="2400">
                <a:solidFill>
                  <a:schemeClr val="tx1"/>
                </a:solidFill>
                <a:sym typeface="+mn-ea"/>
              </a:rPr>
              <a:t>learning rate of 0.001</a:t>
            </a:r>
            <a:endParaRPr lang="en-US" altLang="zh-CN" sz="2400">
              <a:solidFill>
                <a:schemeClr val="tx1"/>
              </a:solidFill>
              <a:sym typeface="+mn-ea"/>
            </a:endParaRPr>
          </a:p>
          <a:p>
            <a:pPr marL="342900" indent="-342900" algn="l">
              <a:buFont typeface="Arial" panose="020B0604020202020204" pitchFamily="34" charset="0"/>
              <a:buChar char="•"/>
            </a:pPr>
            <a:r>
              <a:rPr lang="en-US" altLang="zh-CN" sz="2400">
                <a:solidFill>
                  <a:schemeClr val="tx1"/>
                </a:solidFill>
                <a:sym typeface="+mn-ea"/>
              </a:rPr>
              <a:t>5 epochs.</a:t>
            </a:r>
            <a:endParaRPr lang="en-US" altLang="zh-CN" sz="2400">
              <a:solidFill>
                <a:schemeClr val="tx1"/>
              </a:solidFill>
              <a:sym typeface="+mn-ea"/>
            </a:endParaRPr>
          </a:p>
        </p:txBody>
      </p:sp>
      <p:sp>
        <p:nvSpPr>
          <p:cNvPr id="4" name="文本框 3"/>
          <p:cNvSpPr txBox="1"/>
          <p:nvPr/>
        </p:nvSpPr>
        <p:spPr>
          <a:xfrm>
            <a:off x="63500" y="6551295"/>
            <a:ext cx="10656570" cy="306705"/>
          </a:xfrm>
          <a:prstGeom prst="rect">
            <a:avLst/>
          </a:prstGeom>
          <a:noFill/>
        </p:spPr>
        <p:txBody>
          <a:bodyPr wrap="square" rtlCol="0" anchor="t">
            <a:spAutoFit/>
          </a:bodyPr>
          <a:p>
            <a:r>
              <a:rPr lang="en-US" altLang="zh-CN" sz="1400"/>
              <a:t>source: https://becominghuman.ai/multi-layer-perceptron-mlp-models-on-real-world-banking-data-f6dd3d7e998f</a:t>
            </a:r>
            <a:endParaRPr lang="en-US" altLang="zh-CN" sz="140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6" name="图片 5"/>
          <p:cNvPicPr/>
          <p:nvPr/>
        </p:nvPicPr>
        <p:blipFill>
          <a:blip r:embed="rId1"/>
          <a:stretch>
            <a:fillRect/>
          </a:stretch>
        </p:blipFill>
        <p:spPr>
          <a:xfrm>
            <a:off x="3968750" y="1798955"/>
            <a:ext cx="8128000" cy="4572000"/>
          </a:xfrm>
          <a:prstGeom prst="rect">
            <a:avLst/>
          </a:prstGeom>
        </p:spPr>
      </p:pic>
      <p:sp>
        <p:nvSpPr>
          <p:cNvPr id="3" name="副标题 2"/>
          <p:cNvSpPr>
            <a:spLocks noGrp="1"/>
          </p:cNvSpPr>
          <p:nvPr>
            <p:ph type="subTitle" idx="1"/>
          </p:nvPr>
        </p:nvSpPr>
        <p:spPr>
          <a:xfrm>
            <a:off x="677545" y="774065"/>
            <a:ext cx="11026140" cy="4136390"/>
          </a:xfrm>
        </p:spPr>
        <p:txBody>
          <a:bodyPr>
            <a:normAutofit/>
          </a:bodyPr>
          <a:p>
            <a:pPr algn="l">
              <a:buFont typeface="Arial" panose="020B0604020202020204" pitchFamily="34" charset="0"/>
            </a:pPr>
            <a:r>
              <a:rPr lang="en-US" altLang="fr-CA" sz="6000">
                <a:sym typeface="+mn-ea"/>
              </a:rPr>
              <a:t>Model3</a:t>
            </a:r>
            <a:r>
              <a:rPr lang="zh-CN" altLang="en-US" sz="6000">
                <a:sym typeface="+mn-ea"/>
              </a:rPr>
              <a:t>：</a:t>
            </a:r>
            <a:r>
              <a:rPr lang="fr-CA" altLang="zh-CN" sz="6000">
                <a:sym typeface="+mn-ea"/>
              </a:rPr>
              <a:t>Img </a:t>
            </a:r>
            <a:r>
              <a:rPr lang="en-US" altLang="fr-CA" sz="6000">
                <a:sym typeface="+mn-ea"/>
              </a:rPr>
              <a:t>-&gt;</a:t>
            </a:r>
            <a:r>
              <a:rPr lang="en-US" altLang="fr-CA" sz="6000">
                <a:sym typeface="+mn-ea"/>
              </a:rPr>
              <a:t>ResNet</a:t>
            </a:r>
            <a:endParaRPr lang="en-US" altLang="fr-CA" sz="6000">
              <a:sym typeface="+mn-ea"/>
            </a:endParaRPr>
          </a:p>
          <a:p>
            <a:pPr algn="l">
              <a:buFont typeface="Wingdings" panose="05000000000000000000" charset="0"/>
            </a:pPr>
            <a:endParaRPr lang="en-US" altLang="zh-CN" sz="6000">
              <a:sym typeface="+mn-ea"/>
            </a:endParaRPr>
          </a:p>
        </p:txBody>
      </p:sp>
      <p:sp>
        <p:nvSpPr>
          <p:cNvPr id="5" name="矩形 4"/>
          <p:cNvSpPr/>
          <p:nvPr/>
        </p:nvSpPr>
        <p:spPr>
          <a:xfrm>
            <a:off x="419100" y="2040890"/>
            <a:ext cx="3293110" cy="4487545"/>
          </a:xfrm>
          <a:prstGeom prst="rect">
            <a:avLst/>
          </a:prstGeom>
          <a:noFill/>
          <a:ln>
            <a:noFill/>
          </a:ln>
          <a:extLst>
            <a:ext uri="{909E8E84-426E-40DD-AFC4-6F175D3DCCD1}">
              <a14:hiddenFill xmlns:a14="http://schemas.microsoft.com/office/drawing/2010/main">
                <a:solidFill>
                  <a:schemeClr val="accent1"/>
                </a:solidFill>
              </a14:hiddenFill>
            </a:ext>
          </a:extLst>
        </p:spPr>
        <p:style>
          <a:lnRef idx="2">
            <a:schemeClr val="accent1">
              <a:lumMod val="75000"/>
            </a:schemeClr>
          </a:lnRef>
          <a:fillRef idx="1">
            <a:schemeClr val="accent1"/>
          </a:fillRef>
          <a:effectRef idx="0">
            <a:srgbClr val="FFFFFF"/>
          </a:effectRef>
          <a:fontRef idx="minor">
            <a:schemeClr val="lt1"/>
          </a:fontRef>
        </p:style>
        <p:txBody>
          <a:bodyPr rtlCol="0" anchor="ctr"/>
          <a:p>
            <a:pPr algn="l">
              <a:buFont typeface="Wingdings" panose="05000000000000000000" charset="0"/>
            </a:pPr>
            <a:r>
              <a:rPr lang="en-US" altLang="zh-CN" sz="2400">
                <a:solidFill>
                  <a:schemeClr val="tx1"/>
                </a:solidFill>
                <a:sym typeface="+mn-ea"/>
              </a:rPr>
              <a:t>Images are processed by ResNet, where the output of the final convolutional layer serves as an embedding to model pasture biomass.</a:t>
            </a:r>
            <a:endParaRPr lang="en-US" altLang="zh-CN" sz="2400">
              <a:solidFill>
                <a:schemeClr val="tx1"/>
              </a:solidFill>
              <a:sym typeface="+mn-ea"/>
            </a:endParaRPr>
          </a:p>
          <a:p>
            <a:pPr indent="0" algn="l">
              <a:buFont typeface="Arial" panose="020B0604020202020204" pitchFamily="34" charset="0"/>
              <a:buNone/>
            </a:pPr>
            <a:endParaRPr lang="en-US" altLang="zh-CN" sz="2400">
              <a:solidFill>
                <a:schemeClr val="tx1"/>
              </a:solidFill>
              <a:sym typeface="+mn-ea"/>
            </a:endParaRPr>
          </a:p>
        </p:txBody>
      </p:sp>
      <p:sp>
        <p:nvSpPr>
          <p:cNvPr id="4" name="文本框 3"/>
          <p:cNvSpPr txBox="1"/>
          <p:nvPr/>
        </p:nvSpPr>
        <p:spPr>
          <a:xfrm>
            <a:off x="63500" y="6551295"/>
            <a:ext cx="10656570" cy="306705"/>
          </a:xfrm>
          <a:prstGeom prst="rect">
            <a:avLst/>
          </a:prstGeom>
          <a:noFill/>
        </p:spPr>
        <p:txBody>
          <a:bodyPr wrap="square" rtlCol="0" anchor="t">
            <a:spAutoFit/>
          </a:bodyPr>
          <a:p>
            <a:r>
              <a:rPr lang="en-US" altLang="zh-CN" sz="1400"/>
              <a:t>source: https://www.youtube.com/watch?v=woEs7UCaITo</a:t>
            </a:r>
            <a:endParaRPr lang="en-US" altLang="zh-CN" sz="140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6" name="矩形 15"/>
          <p:cNvSpPr/>
          <p:nvPr/>
        </p:nvSpPr>
        <p:spPr>
          <a:xfrm>
            <a:off x="4337685" y="1755775"/>
            <a:ext cx="1979295" cy="4900295"/>
          </a:xfrm>
          <a:prstGeom prst="rect">
            <a:avLst/>
          </a:prstGeom>
          <a:solidFill>
            <a:schemeClr val="bg1">
              <a:lumMod val="95000"/>
            </a:schemeClr>
          </a:solidFill>
        </p:spPr>
        <p:style>
          <a:lnRef idx="2">
            <a:schemeClr val="accent1">
              <a:lumMod val="75000"/>
            </a:schemeClr>
          </a:lnRef>
          <a:fillRef idx="1">
            <a:schemeClr val="accent1"/>
          </a:fillRef>
          <a:effectRef idx="0">
            <a:srgbClr val="FFFFFF"/>
          </a:effectRef>
          <a:fontRef idx="minor">
            <a:schemeClr val="lt1"/>
          </a:fontRef>
        </p:style>
        <p:txBody>
          <a:bodyPr rtlCol="0" anchor="ctr"/>
          <a:p>
            <a:pPr algn="ctr"/>
            <a:r>
              <a:rPr lang="en-US" altLang="zh-CN">
                <a:solidFill>
                  <a:schemeClr val="tx1"/>
                </a:solidFill>
              </a:rPr>
              <a:t>raw data</a:t>
            </a:r>
            <a:endParaRPr lang="en-US" altLang="zh-CN">
              <a:solidFill>
                <a:schemeClr val="tx1"/>
              </a:solidFill>
            </a:endParaRPr>
          </a:p>
        </p:txBody>
      </p:sp>
      <p:sp>
        <p:nvSpPr>
          <p:cNvPr id="3" name="副标题 2"/>
          <p:cNvSpPr>
            <a:spLocks noGrp="1"/>
          </p:cNvSpPr>
          <p:nvPr>
            <p:ph type="subTitle" idx="1"/>
          </p:nvPr>
        </p:nvSpPr>
        <p:spPr>
          <a:xfrm>
            <a:off x="677545" y="774065"/>
            <a:ext cx="11026140" cy="4136390"/>
          </a:xfrm>
        </p:spPr>
        <p:txBody>
          <a:bodyPr>
            <a:normAutofit/>
          </a:bodyPr>
          <a:p>
            <a:pPr algn="l">
              <a:buFont typeface="Arial" panose="020B0604020202020204" pitchFamily="34" charset="0"/>
            </a:pPr>
            <a:r>
              <a:rPr lang="en-US" altLang="fr-CA" sz="6000">
                <a:sym typeface="+mn-ea"/>
              </a:rPr>
              <a:t>Model4</a:t>
            </a:r>
            <a:r>
              <a:rPr lang="zh-CN" altLang="en-US" sz="6000">
                <a:sym typeface="+mn-ea"/>
              </a:rPr>
              <a:t>：</a:t>
            </a:r>
            <a:r>
              <a:rPr lang="en-US" altLang="fr-CA" sz="6000">
                <a:sym typeface="+mn-ea"/>
              </a:rPr>
              <a:t>Fusion </a:t>
            </a:r>
            <a:r>
              <a:rPr lang="en-US" altLang="fr-CA" sz="6000">
                <a:sym typeface="+mn-ea"/>
              </a:rPr>
              <a:t>model</a:t>
            </a:r>
            <a:endParaRPr lang="en-US" altLang="fr-CA" sz="6000">
              <a:sym typeface="+mn-ea"/>
            </a:endParaRPr>
          </a:p>
          <a:p>
            <a:pPr algn="l">
              <a:buFont typeface="Wingdings" panose="05000000000000000000" charset="0"/>
            </a:pPr>
            <a:endParaRPr lang="en-US" altLang="zh-CN" sz="6000">
              <a:sym typeface="+mn-ea"/>
            </a:endParaRPr>
          </a:p>
        </p:txBody>
      </p:sp>
      <p:sp>
        <p:nvSpPr>
          <p:cNvPr id="5" name="矩形 4"/>
          <p:cNvSpPr/>
          <p:nvPr/>
        </p:nvSpPr>
        <p:spPr>
          <a:xfrm>
            <a:off x="419100" y="2040890"/>
            <a:ext cx="3293110" cy="4487545"/>
          </a:xfrm>
          <a:prstGeom prst="rect">
            <a:avLst/>
          </a:prstGeom>
          <a:noFill/>
          <a:ln>
            <a:noFill/>
          </a:ln>
          <a:extLst>
            <a:ext uri="{909E8E84-426E-40DD-AFC4-6F175D3DCCD1}">
              <a14:hiddenFill xmlns:a14="http://schemas.microsoft.com/office/drawing/2010/main">
                <a:solidFill>
                  <a:schemeClr val="accent1"/>
                </a:solidFill>
              </a14:hiddenFill>
            </a:ext>
          </a:extLst>
        </p:spPr>
        <p:style>
          <a:lnRef idx="2">
            <a:schemeClr val="accent1">
              <a:lumMod val="75000"/>
            </a:schemeClr>
          </a:lnRef>
          <a:fillRef idx="1">
            <a:schemeClr val="accent1"/>
          </a:fillRef>
          <a:effectRef idx="0">
            <a:srgbClr val="FFFFFF"/>
          </a:effectRef>
          <a:fontRef idx="minor">
            <a:schemeClr val="lt1"/>
          </a:fontRef>
        </p:style>
        <p:txBody>
          <a:bodyPr rtlCol="0" anchor="ctr"/>
          <a:p>
            <a:pPr algn="l">
              <a:buFont typeface="Wingdings" panose="05000000000000000000" charset="0"/>
            </a:pPr>
            <a:r>
              <a:rPr lang="en-US" altLang="zh-CN" sz="2400">
                <a:solidFill>
                  <a:schemeClr val="tx1"/>
                </a:solidFill>
                <a:sym typeface="+mn-ea"/>
              </a:rPr>
              <a:t>Handcrafted features, metadata, and ResNet embeddings (extracted from the final conv layer) are concatenated and input into XGBoost.</a:t>
            </a:r>
            <a:endParaRPr lang="en-US" altLang="zh-CN" sz="2400">
              <a:solidFill>
                <a:schemeClr val="tx1"/>
              </a:solidFill>
              <a:sym typeface="+mn-ea"/>
            </a:endParaRPr>
          </a:p>
          <a:p>
            <a:pPr indent="0" algn="l">
              <a:buFont typeface="Arial" panose="020B0604020202020204" pitchFamily="34" charset="0"/>
              <a:buNone/>
            </a:pPr>
            <a:endParaRPr lang="en-US" altLang="zh-CN" sz="2400">
              <a:solidFill>
                <a:schemeClr val="tx1"/>
              </a:solidFill>
              <a:sym typeface="+mn-ea"/>
            </a:endParaRPr>
          </a:p>
        </p:txBody>
      </p:sp>
      <p:sp>
        <p:nvSpPr>
          <p:cNvPr id="2" name="椭圆 1"/>
          <p:cNvSpPr/>
          <p:nvPr/>
        </p:nvSpPr>
        <p:spPr>
          <a:xfrm>
            <a:off x="4634230" y="5071745"/>
            <a:ext cx="1419860" cy="1419860"/>
          </a:xfrm>
          <a:prstGeom prst="ellipse">
            <a:avLst/>
          </a:prstGeom>
        </p:spPr>
        <p:style>
          <a:lnRef idx="2">
            <a:schemeClr val="accent1">
              <a:lumMod val="75000"/>
            </a:schemeClr>
          </a:lnRef>
          <a:fillRef idx="1">
            <a:schemeClr val="accent1"/>
          </a:fillRef>
          <a:effectRef idx="0">
            <a:srgbClr val="FFFFFF"/>
          </a:effectRef>
          <a:fontRef idx="minor">
            <a:schemeClr val="lt1"/>
          </a:fontRef>
        </p:style>
        <p:txBody>
          <a:bodyPr rtlCol="0" anchor="ctr"/>
          <a:p>
            <a:pPr algn="ctr"/>
            <a:r>
              <a:rPr lang="en-US" altLang="zh-CN" sz="2400"/>
              <a:t>meta statistic data</a:t>
            </a:r>
            <a:endParaRPr lang="en-US" altLang="zh-CN" sz="2400"/>
          </a:p>
        </p:txBody>
      </p:sp>
      <p:sp>
        <p:nvSpPr>
          <p:cNvPr id="7" name="矩形 6"/>
          <p:cNvSpPr/>
          <p:nvPr/>
        </p:nvSpPr>
        <p:spPr>
          <a:xfrm>
            <a:off x="4603115" y="1888490"/>
            <a:ext cx="1450975" cy="1444625"/>
          </a:xfrm>
          <a:prstGeom prst="rect">
            <a:avLst/>
          </a:prstGeom>
          <a:solidFill>
            <a:schemeClr val="accent6">
              <a:lumMod val="20000"/>
              <a:lumOff val="80000"/>
            </a:schemeClr>
          </a:solidFill>
          <a:ln>
            <a:solidFill>
              <a:schemeClr val="accent6"/>
            </a:solid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buFont typeface="Wingdings" panose="05000000000000000000" charset="0"/>
            </a:pPr>
            <a:r>
              <a:rPr lang="en-US" altLang="zh-CN" sz="2400">
                <a:solidFill>
                  <a:schemeClr val="tx1"/>
                </a:solidFill>
                <a:sym typeface="+mn-ea"/>
              </a:rPr>
              <a:t>Img</a:t>
            </a:r>
            <a:endParaRPr lang="en-US" altLang="zh-CN" sz="2400">
              <a:solidFill>
                <a:schemeClr val="tx1"/>
              </a:solidFill>
              <a:sym typeface="+mn-ea"/>
            </a:endParaRPr>
          </a:p>
        </p:txBody>
      </p:sp>
      <p:sp>
        <p:nvSpPr>
          <p:cNvPr id="8" name="椭圆 7"/>
          <p:cNvSpPr/>
          <p:nvPr/>
        </p:nvSpPr>
        <p:spPr>
          <a:xfrm>
            <a:off x="6830695" y="3492500"/>
            <a:ext cx="1419860" cy="1419860"/>
          </a:xfrm>
          <a:prstGeom prst="ellipse">
            <a:avLst/>
          </a:prstGeom>
        </p:spPr>
        <p:style>
          <a:lnRef idx="2">
            <a:schemeClr val="accent1">
              <a:lumMod val="75000"/>
            </a:schemeClr>
          </a:lnRef>
          <a:fillRef idx="1">
            <a:schemeClr val="accent1"/>
          </a:fillRef>
          <a:effectRef idx="0">
            <a:srgbClr val="FFFFFF"/>
          </a:effectRef>
          <a:fontRef idx="minor">
            <a:schemeClr val="lt1"/>
          </a:fontRef>
        </p:style>
        <p:txBody>
          <a:bodyPr rtlCol="0" anchor="ctr"/>
          <a:p>
            <a:pPr algn="ctr"/>
            <a:r>
              <a:rPr lang="en-US" altLang="zh-CN" sz="2800"/>
              <a:t>features</a:t>
            </a:r>
            <a:endParaRPr lang="en-US" altLang="zh-CN" sz="2800"/>
          </a:p>
        </p:txBody>
      </p:sp>
      <p:sp>
        <p:nvSpPr>
          <p:cNvPr id="9" name="矩形 8"/>
          <p:cNvSpPr/>
          <p:nvPr/>
        </p:nvSpPr>
        <p:spPr>
          <a:xfrm>
            <a:off x="9672320" y="1888490"/>
            <a:ext cx="1450975" cy="4639945"/>
          </a:xfrm>
          <a:prstGeom prst="rect">
            <a:avLst/>
          </a:prstGeom>
          <a:solidFill>
            <a:schemeClr val="accent4">
              <a:lumMod val="20000"/>
              <a:lumOff val="80000"/>
            </a:schemeClr>
          </a:solidFill>
          <a:ln>
            <a:solidFill>
              <a:schemeClr val="accent4"/>
            </a:solid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buFont typeface="Wingdings" panose="05000000000000000000" charset="0"/>
            </a:pPr>
            <a:r>
              <a:rPr lang="en-US" altLang="zh-CN" sz="2400">
                <a:solidFill>
                  <a:schemeClr val="tx1"/>
                </a:solidFill>
                <a:sym typeface="+mn-ea"/>
              </a:rPr>
              <a:t>XGBoost</a:t>
            </a:r>
            <a:endParaRPr lang="en-US" altLang="zh-CN" sz="2400">
              <a:solidFill>
                <a:schemeClr val="tx1"/>
              </a:solidFill>
              <a:sym typeface="+mn-ea"/>
            </a:endParaRPr>
          </a:p>
        </p:txBody>
      </p:sp>
      <p:sp>
        <p:nvSpPr>
          <p:cNvPr id="10" name="平行四边形 9"/>
          <p:cNvSpPr/>
          <p:nvPr/>
        </p:nvSpPr>
        <p:spPr>
          <a:xfrm>
            <a:off x="6830695" y="1888490"/>
            <a:ext cx="1821180" cy="1445260"/>
          </a:xfrm>
          <a:prstGeom prst="parallelogram">
            <a:avLst>
              <a:gd name="adj" fmla="val 17724"/>
            </a:avLst>
          </a:prstGeom>
          <a:solidFill>
            <a:schemeClr val="accent2">
              <a:lumMod val="20000"/>
              <a:lumOff val="80000"/>
            </a:schemeClr>
          </a:solidFill>
          <a:ln>
            <a:solidFill>
              <a:schemeClr val="accent2"/>
            </a:solid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buFont typeface="Wingdings" panose="05000000000000000000" charset="0"/>
            </a:pPr>
            <a:r>
              <a:rPr lang="en-US" altLang="zh-CN" sz="2400">
                <a:solidFill>
                  <a:schemeClr val="tx1"/>
                </a:solidFill>
                <a:sym typeface="+mn-ea"/>
              </a:rPr>
              <a:t>ResNet</a:t>
            </a:r>
            <a:endParaRPr lang="en-US" altLang="zh-CN" sz="2400">
              <a:solidFill>
                <a:schemeClr val="tx1"/>
              </a:solidFill>
              <a:sym typeface="+mn-ea"/>
            </a:endParaRPr>
          </a:p>
        </p:txBody>
      </p:sp>
      <p:cxnSp>
        <p:nvCxnSpPr>
          <p:cNvPr id="11" name="直接箭头连接符 10"/>
          <p:cNvCxnSpPr>
            <a:stCxn id="7" idx="3"/>
            <a:endCxn id="10" idx="5"/>
          </p:cNvCxnSpPr>
          <p:nvPr/>
        </p:nvCxnSpPr>
        <p:spPr>
          <a:xfrm>
            <a:off x="6054090" y="2611120"/>
            <a:ext cx="904875" cy="0"/>
          </a:xfrm>
          <a:prstGeom prst="straightConnector1">
            <a:avLst/>
          </a:prstGeom>
          <a:ln>
            <a:solidFill>
              <a:schemeClr val="accent1">
                <a:lumMod val="75000"/>
              </a:schemeClr>
            </a:solidFill>
            <a:tailEnd type="arrow"/>
          </a:ln>
        </p:spPr>
        <p:style>
          <a:lnRef idx="2">
            <a:schemeClr val="accent1"/>
          </a:lnRef>
          <a:fillRef idx="0">
            <a:srgbClr val="FFFFFF"/>
          </a:fillRef>
          <a:effectRef idx="0">
            <a:srgbClr val="FFFFFF"/>
          </a:effectRef>
          <a:fontRef idx="minor">
            <a:schemeClr val="tx1"/>
          </a:fontRef>
        </p:style>
      </p:cxnSp>
      <p:cxnSp>
        <p:nvCxnSpPr>
          <p:cNvPr id="12" name="直接箭头连接符 11"/>
          <p:cNvCxnSpPr>
            <a:stCxn id="10" idx="2"/>
          </p:cNvCxnSpPr>
          <p:nvPr/>
        </p:nvCxnSpPr>
        <p:spPr>
          <a:xfrm>
            <a:off x="8523605" y="2611120"/>
            <a:ext cx="1137920" cy="19050"/>
          </a:xfrm>
          <a:prstGeom prst="straightConnector1">
            <a:avLst/>
          </a:prstGeom>
          <a:ln>
            <a:solidFill>
              <a:schemeClr val="accent1">
                <a:lumMod val="75000"/>
              </a:schemeClr>
            </a:solidFill>
            <a:tailEnd type="arrow"/>
          </a:ln>
        </p:spPr>
        <p:style>
          <a:lnRef idx="2">
            <a:schemeClr val="accent1"/>
          </a:lnRef>
          <a:fillRef idx="0">
            <a:srgbClr val="FFFFFF"/>
          </a:fillRef>
          <a:effectRef idx="0">
            <a:srgbClr val="FFFFFF"/>
          </a:effectRef>
          <a:fontRef idx="minor">
            <a:schemeClr val="tx1"/>
          </a:fontRef>
        </p:style>
      </p:cxnSp>
      <p:cxnSp>
        <p:nvCxnSpPr>
          <p:cNvPr id="13" name="直接箭头连接符 12"/>
          <p:cNvCxnSpPr>
            <a:stCxn id="7" idx="2"/>
            <a:endCxn id="8" idx="2"/>
          </p:cNvCxnSpPr>
          <p:nvPr/>
        </p:nvCxnSpPr>
        <p:spPr>
          <a:xfrm>
            <a:off x="5328920" y="3333115"/>
            <a:ext cx="1501775" cy="869315"/>
          </a:xfrm>
          <a:prstGeom prst="straightConnector1">
            <a:avLst/>
          </a:prstGeom>
          <a:ln>
            <a:solidFill>
              <a:schemeClr val="accent1">
                <a:lumMod val="75000"/>
              </a:schemeClr>
            </a:solidFill>
            <a:tailEnd type="arrow"/>
          </a:ln>
        </p:spPr>
        <p:style>
          <a:lnRef idx="2">
            <a:schemeClr val="accent1"/>
          </a:lnRef>
          <a:fillRef idx="0">
            <a:srgbClr val="FFFFFF"/>
          </a:fillRef>
          <a:effectRef idx="0">
            <a:srgbClr val="FFFFFF"/>
          </a:effectRef>
          <a:fontRef idx="minor">
            <a:schemeClr val="tx1"/>
          </a:fontRef>
        </p:style>
      </p:cxnSp>
      <p:cxnSp>
        <p:nvCxnSpPr>
          <p:cNvPr id="14" name="直接箭头连接符 13"/>
          <p:cNvCxnSpPr>
            <a:stCxn id="8" idx="6"/>
            <a:endCxn id="9" idx="1"/>
          </p:cNvCxnSpPr>
          <p:nvPr/>
        </p:nvCxnSpPr>
        <p:spPr>
          <a:xfrm>
            <a:off x="8250555" y="4202430"/>
            <a:ext cx="1421765" cy="6350"/>
          </a:xfrm>
          <a:prstGeom prst="straightConnector1">
            <a:avLst/>
          </a:prstGeom>
          <a:ln>
            <a:solidFill>
              <a:schemeClr val="accent1">
                <a:lumMod val="75000"/>
              </a:schemeClr>
            </a:solidFill>
            <a:tailEnd type="arrow"/>
          </a:ln>
        </p:spPr>
        <p:style>
          <a:lnRef idx="2">
            <a:schemeClr val="accent1"/>
          </a:lnRef>
          <a:fillRef idx="0">
            <a:srgbClr val="FFFFFF"/>
          </a:fillRef>
          <a:effectRef idx="0">
            <a:srgbClr val="FFFFFF"/>
          </a:effectRef>
          <a:fontRef idx="minor">
            <a:schemeClr val="tx1"/>
          </a:fontRef>
        </p:style>
      </p:cxnSp>
      <p:cxnSp>
        <p:nvCxnSpPr>
          <p:cNvPr id="15" name="直接箭头连接符 14"/>
          <p:cNvCxnSpPr>
            <a:stCxn id="2" idx="6"/>
          </p:cNvCxnSpPr>
          <p:nvPr/>
        </p:nvCxnSpPr>
        <p:spPr>
          <a:xfrm>
            <a:off x="6054090" y="5781675"/>
            <a:ext cx="3617595" cy="6985"/>
          </a:xfrm>
          <a:prstGeom prst="straightConnector1">
            <a:avLst/>
          </a:prstGeom>
          <a:ln>
            <a:solidFill>
              <a:schemeClr val="accent1">
                <a:lumMod val="75000"/>
              </a:schemeClr>
            </a:solidFill>
            <a:tailEnd type="arrow"/>
          </a:ln>
        </p:spPr>
        <p:style>
          <a:lnRef idx="2">
            <a:schemeClr val="accent1"/>
          </a:lnRef>
          <a:fillRef idx="0">
            <a:srgbClr val="FFFFFF"/>
          </a:fillRef>
          <a:effectRef idx="0">
            <a:srgbClr val="FFFFFF"/>
          </a:effectRef>
          <a:fontRef idx="minor">
            <a:schemeClr val="tx1"/>
          </a:fontRef>
        </p:style>
      </p:cxn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 name="副标题 2"/>
          <p:cNvSpPr>
            <a:spLocks noGrp="1"/>
          </p:cNvSpPr>
          <p:nvPr>
            <p:ph type="subTitle" idx="1"/>
          </p:nvPr>
        </p:nvSpPr>
        <p:spPr>
          <a:xfrm>
            <a:off x="677545" y="160020"/>
            <a:ext cx="11026140" cy="4136390"/>
          </a:xfrm>
        </p:spPr>
        <p:txBody>
          <a:bodyPr>
            <a:normAutofit/>
          </a:bodyPr>
          <a:p>
            <a:pPr algn="l">
              <a:buFont typeface="Arial" panose="020B0604020202020204" pitchFamily="34" charset="0"/>
            </a:pPr>
            <a:r>
              <a:rPr lang="en-US" altLang="fr-CA" sz="4000">
                <a:sym typeface="+mn-ea"/>
              </a:rPr>
              <a:t>Model5</a:t>
            </a:r>
            <a:r>
              <a:rPr lang="zh-CN" altLang="en-US" sz="4000">
                <a:sym typeface="+mn-ea"/>
              </a:rPr>
              <a:t>：</a:t>
            </a:r>
            <a:r>
              <a:rPr lang="en-US" altLang="zh-CN" sz="4000">
                <a:sym typeface="+mn-ea"/>
              </a:rPr>
              <a:t>[</a:t>
            </a:r>
            <a:r>
              <a:rPr lang="fr-CA" altLang="zh-CN" sz="4000">
                <a:sym typeface="+mn-ea"/>
              </a:rPr>
              <a:t>Img </a:t>
            </a:r>
            <a:r>
              <a:rPr lang="en-US" altLang="fr-CA" sz="4000">
                <a:sym typeface="+mn-ea"/>
              </a:rPr>
              <a:t>-&gt;feature + Remote Sensor-&gt;feature]-&gt;MLP</a:t>
            </a:r>
            <a:endParaRPr lang="en-US" altLang="fr-CA" sz="4000">
              <a:sym typeface="+mn-ea"/>
            </a:endParaRPr>
          </a:p>
          <a:p>
            <a:pPr algn="l">
              <a:buFont typeface="Wingdings" panose="05000000000000000000" charset="0"/>
            </a:pPr>
            <a:endParaRPr lang="en-US" altLang="fr-CA" sz="4000">
              <a:sym typeface="+mn-ea"/>
            </a:endParaRPr>
          </a:p>
        </p:txBody>
      </p:sp>
      <p:sp>
        <p:nvSpPr>
          <p:cNvPr id="5" name="矩形 4"/>
          <p:cNvSpPr/>
          <p:nvPr/>
        </p:nvSpPr>
        <p:spPr>
          <a:xfrm>
            <a:off x="419100" y="2040890"/>
            <a:ext cx="3293110" cy="4487545"/>
          </a:xfrm>
          <a:prstGeom prst="rect">
            <a:avLst/>
          </a:prstGeom>
          <a:noFill/>
          <a:ln>
            <a:noFill/>
          </a:ln>
          <a:extLst>
            <a:ext uri="{909E8E84-426E-40DD-AFC4-6F175D3DCCD1}">
              <a14:hiddenFill xmlns:a14="http://schemas.microsoft.com/office/drawing/2010/main">
                <a:solidFill>
                  <a:schemeClr val="accent1"/>
                </a:solidFill>
              </a14:hiddenFill>
            </a:ext>
          </a:extLst>
        </p:spPr>
        <p:style>
          <a:lnRef idx="2">
            <a:schemeClr val="accent1">
              <a:lumMod val="75000"/>
            </a:schemeClr>
          </a:lnRef>
          <a:fillRef idx="1">
            <a:schemeClr val="accent1"/>
          </a:fillRef>
          <a:effectRef idx="0">
            <a:srgbClr val="FFFFFF"/>
          </a:effectRef>
          <a:fontRef idx="minor">
            <a:schemeClr val="lt1"/>
          </a:fontRef>
        </p:style>
        <p:txBody>
          <a:bodyPr rtlCol="0" anchor="ctr"/>
          <a:p>
            <a:pPr algn="l">
              <a:buFont typeface="Wingdings" panose="05000000000000000000" charset="0"/>
            </a:pPr>
            <a:r>
              <a:rPr lang="en-US" altLang="zh-CN" sz="2400">
                <a:solidFill>
                  <a:schemeClr val="tx1"/>
                </a:solidFill>
                <a:sym typeface="+mn-ea"/>
              </a:rPr>
              <a:t>Images are processed by ResNet, where the output of the final convolutional layer serves as an embedding to model pasture biomass.</a:t>
            </a:r>
            <a:endParaRPr lang="en-US" altLang="zh-CN" sz="2400">
              <a:solidFill>
                <a:schemeClr val="tx1"/>
              </a:solidFill>
              <a:sym typeface="+mn-ea"/>
            </a:endParaRPr>
          </a:p>
          <a:p>
            <a:pPr indent="0" algn="l">
              <a:buFont typeface="Arial" panose="020B0604020202020204" pitchFamily="34" charset="0"/>
              <a:buNone/>
            </a:pPr>
            <a:endParaRPr lang="en-US" altLang="zh-CN" sz="2400">
              <a:solidFill>
                <a:schemeClr val="tx1"/>
              </a:solidFill>
              <a:sym typeface="+mn-ea"/>
            </a:endParaRPr>
          </a:p>
        </p:txBody>
      </p:sp>
      <p:pic>
        <p:nvPicPr>
          <p:cNvPr id="2" name="图片 1" descr="屏幕截图 2025-12-10 151910"/>
          <p:cNvPicPr>
            <a:picLocks noChangeAspect="1"/>
          </p:cNvPicPr>
          <p:nvPr/>
        </p:nvPicPr>
        <p:blipFill>
          <a:blip r:embed="rId1"/>
          <a:stretch>
            <a:fillRect/>
          </a:stretch>
        </p:blipFill>
        <p:spPr>
          <a:xfrm>
            <a:off x="419100" y="1244600"/>
            <a:ext cx="11452860" cy="5613400"/>
          </a:xfrm>
          <a:prstGeom prst="rect">
            <a:avLst/>
          </a:prstGeom>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 name="副标题 2"/>
          <p:cNvSpPr>
            <a:spLocks noGrp="1"/>
          </p:cNvSpPr>
          <p:nvPr>
            <p:ph type="subTitle" idx="1"/>
          </p:nvPr>
        </p:nvSpPr>
        <p:spPr>
          <a:xfrm>
            <a:off x="677545" y="160020"/>
            <a:ext cx="11026140" cy="1299845"/>
          </a:xfrm>
        </p:spPr>
        <p:txBody>
          <a:bodyPr>
            <a:normAutofit/>
          </a:bodyPr>
          <a:p>
            <a:pPr algn="l">
              <a:buFont typeface="Arial" panose="020B0604020202020204" pitchFamily="34" charset="0"/>
            </a:pPr>
            <a:r>
              <a:rPr lang="en-US" altLang="fr-CA" sz="4000">
                <a:sym typeface="+mn-ea"/>
              </a:rPr>
              <a:t>Model5</a:t>
            </a:r>
            <a:r>
              <a:rPr lang="zh-CN" altLang="en-US" sz="4000">
                <a:sym typeface="+mn-ea"/>
              </a:rPr>
              <a:t>：</a:t>
            </a:r>
            <a:r>
              <a:rPr lang="en-US" altLang="zh-CN" sz="4000">
                <a:sym typeface="+mn-ea"/>
              </a:rPr>
              <a:t>[</a:t>
            </a:r>
            <a:r>
              <a:rPr lang="fr-CA" altLang="zh-CN" sz="4000">
                <a:sym typeface="+mn-ea"/>
              </a:rPr>
              <a:t>Img </a:t>
            </a:r>
            <a:r>
              <a:rPr lang="en-US" altLang="fr-CA" sz="4000">
                <a:sym typeface="+mn-ea"/>
              </a:rPr>
              <a:t>-&gt;feature + Remote Sensor-&gt;feature]-&gt;MLP</a:t>
            </a:r>
            <a:endParaRPr lang="en-US" altLang="fr-CA" sz="4000">
              <a:sym typeface="+mn-ea"/>
            </a:endParaRPr>
          </a:p>
        </p:txBody>
      </p:sp>
      <p:sp>
        <p:nvSpPr>
          <p:cNvPr id="5" name="矩形 4"/>
          <p:cNvSpPr/>
          <p:nvPr/>
        </p:nvSpPr>
        <p:spPr>
          <a:xfrm>
            <a:off x="419100" y="1459230"/>
            <a:ext cx="5676900" cy="5069205"/>
          </a:xfrm>
          <a:prstGeom prst="rect">
            <a:avLst/>
          </a:prstGeom>
          <a:noFill/>
          <a:ln>
            <a:noFill/>
          </a:ln>
          <a:extLst>
            <a:ext uri="{909E8E84-426E-40DD-AFC4-6F175D3DCCD1}">
              <a14:hiddenFill xmlns:a14="http://schemas.microsoft.com/office/drawing/2010/main">
                <a:solidFill>
                  <a:schemeClr val="accent1"/>
                </a:solidFill>
              </a14:hiddenFill>
            </a:ext>
          </a:extLst>
        </p:spPr>
        <p:style>
          <a:lnRef idx="2">
            <a:schemeClr val="accent1">
              <a:lumMod val="75000"/>
            </a:schemeClr>
          </a:lnRef>
          <a:fillRef idx="1">
            <a:schemeClr val="accent1"/>
          </a:fillRef>
          <a:effectRef idx="0">
            <a:srgbClr val="FFFFFF"/>
          </a:effectRef>
          <a:fontRef idx="minor">
            <a:schemeClr val="lt1"/>
          </a:fontRef>
        </p:style>
        <p:txBody>
          <a:bodyPr rtlCol="0" anchor="t" anchorCtr="0"/>
          <a:p>
            <a:pPr marL="342900" indent="-342900" algn="l">
              <a:buFont typeface="Wingdings" panose="05000000000000000000" charset="0"/>
              <a:buChar char="u"/>
            </a:pPr>
            <a:r>
              <a:rPr lang="en-US" altLang="zh-CN" sz="2400">
                <a:solidFill>
                  <a:schemeClr val="tx1"/>
                </a:solidFill>
                <a:sym typeface="+mn-ea"/>
              </a:rPr>
              <a:t>Remote sensor:How </a:t>
            </a:r>
            <a:r>
              <a:rPr lang="en-US" altLang="zh-CN" sz="2400">
                <a:solidFill>
                  <a:schemeClr val="tx1"/>
                </a:solidFill>
                <a:sym typeface="+mn-ea"/>
              </a:rPr>
              <a:t>it works</a:t>
            </a:r>
            <a:endParaRPr lang="en-US" altLang="zh-CN" sz="2400">
              <a:solidFill>
                <a:schemeClr val="tx1"/>
              </a:solidFill>
              <a:sym typeface="+mn-ea"/>
            </a:endParaRPr>
          </a:p>
          <a:p>
            <a:pPr indent="0" algn="l">
              <a:buFont typeface="Arial" panose="020B0604020202020204" pitchFamily="34" charset="0"/>
              <a:buNone/>
            </a:pPr>
            <a:endParaRPr lang="en-US" altLang="zh-CN" sz="2400">
              <a:solidFill>
                <a:schemeClr val="tx1"/>
              </a:solidFill>
              <a:sym typeface="+mn-ea"/>
            </a:endParaRPr>
          </a:p>
        </p:txBody>
      </p:sp>
      <p:pic>
        <p:nvPicPr>
          <p:cNvPr id="7" name="图片 6"/>
          <p:cNvPicPr/>
          <p:nvPr/>
        </p:nvPicPr>
        <p:blipFill>
          <a:blip r:embed="rId1"/>
          <a:stretch>
            <a:fillRect/>
          </a:stretch>
        </p:blipFill>
        <p:spPr>
          <a:xfrm>
            <a:off x="2277110" y="1898650"/>
            <a:ext cx="8185785" cy="4878070"/>
          </a:xfrm>
          <a:prstGeom prst="rect">
            <a:avLst/>
          </a:prstGeom>
        </p:spPr>
      </p:pic>
      <p:sp>
        <p:nvSpPr>
          <p:cNvPr id="8" name="文本框 7"/>
          <p:cNvSpPr txBox="1"/>
          <p:nvPr/>
        </p:nvSpPr>
        <p:spPr>
          <a:xfrm>
            <a:off x="63500" y="6551295"/>
            <a:ext cx="10656570" cy="306705"/>
          </a:xfrm>
          <a:prstGeom prst="rect">
            <a:avLst/>
          </a:prstGeom>
          <a:noFill/>
        </p:spPr>
        <p:txBody>
          <a:bodyPr wrap="square" rtlCol="0" anchor="t">
            <a:spAutoFit/>
          </a:bodyPr>
          <a:p>
            <a:r>
              <a:rPr lang="en-US" altLang="zh-CN" sz="1400"/>
              <a:t>source: https://sentiwiki.copernicus.eu/web/s2-mission</a:t>
            </a:r>
            <a:endParaRPr lang="en-US" altLang="zh-CN" sz="140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6" name="图片 5"/>
          <p:cNvPicPr/>
          <p:nvPr/>
        </p:nvPicPr>
        <p:blipFill>
          <a:blip r:embed="rId1"/>
          <a:stretch>
            <a:fillRect/>
          </a:stretch>
        </p:blipFill>
        <p:spPr>
          <a:xfrm>
            <a:off x="2741930" y="1908810"/>
            <a:ext cx="9206865" cy="4430395"/>
          </a:xfrm>
          <a:prstGeom prst="rect">
            <a:avLst/>
          </a:prstGeom>
        </p:spPr>
      </p:pic>
      <p:sp>
        <p:nvSpPr>
          <p:cNvPr id="3" name="副标题 2"/>
          <p:cNvSpPr>
            <a:spLocks noGrp="1"/>
          </p:cNvSpPr>
          <p:nvPr>
            <p:ph type="subTitle" idx="1"/>
          </p:nvPr>
        </p:nvSpPr>
        <p:spPr>
          <a:xfrm>
            <a:off x="677545" y="160020"/>
            <a:ext cx="11026140" cy="1299845"/>
          </a:xfrm>
        </p:spPr>
        <p:txBody>
          <a:bodyPr>
            <a:normAutofit/>
          </a:bodyPr>
          <a:p>
            <a:pPr algn="l">
              <a:buFont typeface="Arial" panose="020B0604020202020204" pitchFamily="34" charset="0"/>
            </a:pPr>
            <a:r>
              <a:rPr lang="en-US" altLang="fr-CA" sz="4000">
                <a:sym typeface="+mn-ea"/>
              </a:rPr>
              <a:t>Model5</a:t>
            </a:r>
            <a:r>
              <a:rPr lang="zh-CN" altLang="en-US" sz="4000">
                <a:sym typeface="+mn-ea"/>
              </a:rPr>
              <a:t>：</a:t>
            </a:r>
            <a:r>
              <a:rPr lang="en-US" altLang="zh-CN" sz="4000">
                <a:sym typeface="+mn-ea"/>
              </a:rPr>
              <a:t>[</a:t>
            </a:r>
            <a:r>
              <a:rPr lang="fr-CA" altLang="zh-CN" sz="4000">
                <a:sym typeface="+mn-ea"/>
              </a:rPr>
              <a:t>Img </a:t>
            </a:r>
            <a:r>
              <a:rPr lang="en-US" altLang="fr-CA" sz="4000">
                <a:sym typeface="+mn-ea"/>
              </a:rPr>
              <a:t>-&gt;feature + Remote Sensor-&gt;feature]-&gt;MLP</a:t>
            </a:r>
            <a:endParaRPr lang="en-US" altLang="fr-CA" sz="4000">
              <a:sym typeface="+mn-ea"/>
            </a:endParaRPr>
          </a:p>
        </p:txBody>
      </p:sp>
      <p:sp>
        <p:nvSpPr>
          <p:cNvPr id="4" name="矩形 3"/>
          <p:cNvSpPr/>
          <p:nvPr/>
        </p:nvSpPr>
        <p:spPr>
          <a:xfrm>
            <a:off x="254000" y="1522730"/>
            <a:ext cx="5676900" cy="5069205"/>
          </a:xfrm>
          <a:prstGeom prst="rect">
            <a:avLst/>
          </a:prstGeom>
          <a:noFill/>
          <a:ln>
            <a:noFill/>
          </a:ln>
          <a:extLst>
            <a:ext uri="{909E8E84-426E-40DD-AFC4-6F175D3DCCD1}">
              <a14:hiddenFill xmlns:a14="http://schemas.microsoft.com/office/drawing/2010/main">
                <a:solidFill>
                  <a:schemeClr val="accent1"/>
                </a:solidFill>
              </a14:hiddenFill>
            </a:ext>
          </a:extLst>
        </p:spPr>
        <p:style>
          <a:lnRef idx="2">
            <a:schemeClr val="accent1">
              <a:lumMod val="75000"/>
            </a:schemeClr>
          </a:lnRef>
          <a:fillRef idx="1">
            <a:schemeClr val="accent1"/>
          </a:fillRef>
          <a:effectRef idx="0">
            <a:srgbClr val="FFFFFF"/>
          </a:effectRef>
          <a:fontRef idx="minor">
            <a:schemeClr val="lt1"/>
          </a:fontRef>
        </p:style>
        <p:txBody>
          <a:bodyPr rtlCol="0" anchor="t" anchorCtr="0"/>
          <a:p>
            <a:pPr marL="342900" indent="-342900" algn="l">
              <a:buFont typeface="Wingdings" panose="05000000000000000000" charset="0"/>
              <a:buChar char="u"/>
            </a:pPr>
            <a:r>
              <a:rPr lang="en-US" altLang="zh-CN" sz="2400">
                <a:solidFill>
                  <a:schemeClr val="tx1"/>
                </a:solidFill>
                <a:sym typeface="+mn-ea"/>
              </a:rPr>
              <a:t>Data: How to use</a:t>
            </a:r>
            <a:endParaRPr lang="en-US" altLang="zh-CN" sz="2400">
              <a:solidFill>
                <a:schemeClr val="tx1"/>
              </a:solidFill>
              <a:sym typeface="+mn-ea"/>
            </a:endParaRPr>
          </a:p>
          <a:p>
            <a:pPr indent="0" algn="l">
              <a:buFont typeface="Wingdings" panose="05000000000000000000" charset="0"/>
              <a:buNone/>
            </a:pPr>
            <a:endParaRPr lang="en-US" altLang="zh-CN" sz="2400">
              <a:solidFill>
                <a:schemeClr val="tx1"/>
              </a:solidFill>
              <a:sym typeface="+mn-ea"/>
            </a:endParaRPr>
          </a:p>
          <a:p>
            <a:pPr indent="0" algn="l">
              <a:buFont typeface="Wingdings" panose="05000000000000000000" charset="0"/>
              <a:buNone/>
            </a:pPr>
            <a:r>
              <a:rPr lang="en-US" altLang="zh-CN" sz="2400">
                <a:solidFill>
                  <a:schemeClr val="tx1"/>
                </a:solidFill>
                <a:sym typeface="+mn-ea"/>
              </a:rPr>
              <a:t>coordinate (shape)</a:t>
            </a:r>
            <a:endParaRPr lang="en-US" altLang="zh-CN" sz="2400">
              <a:solidFill>
                <a:schemeClr val="tx1"/>
              </a:solidFill>
              <a:sym typeface="+mn-ea"/>
            </a:endParaRPr>
          </a:p>
          <a:p>
            <a:pPr indent="0" algn="l">
              <a:buFont typeface="Wingdings" panose="05000000000000000000" charset="0"/>
              <a:buNone/>
            </a:pPr>
            <a:r>
              <a:rPr lang="en-US" altLang="zh-CN" sz="2400">
                <a:solidFill>
                  <a:schemeClr val="tx1"/>
                </a:solidFill>
                <a:sym typeface="+mn-ea"/>
              </a:rPr>
              <a:t>time</a:t>
            </a:r>
            <a:endParaRPr lang="en-US" altLang="zh-CN" sz="2400">
              <a:solidFill>
                <a:schemeClr val="tx1"/>
              </a:solidFill>
              <a:sym typeface="+mn-ea"/>
            </a:endParaRPr>
          </a:p>
          <a:p>
            <a:pPr indent="0" algn="l">
              <a:buFont typeface="Wingdings" panose="05000000000000000000" charset="0"/>
              <a:buNone/>
            </a:pPr>
            <a:r>
              <a:rPr lang="en-US" altLang="zh-CN" sz="2400">
                <a:solidFill>
                  <a:schemeClr val="tx1"/>
                </a:solidFill>
                <a:sym typeface="+mn-ea"/>
              </a:rPr>
              <a:t>radio range</a:t>
            </a:r>
            <a:endParaRPr lang="en-US" altLang="zh-CN" sz="2400">
              <a:solidFill>
                <a:schemeClr val="tx1"/>
              </a:solidFill>
              <a:sym typeface="+mn-ea"/>
            </a:endParaRPr>
          </a:p>
          <a:p>
            <a:pPr indent="0" algn="l">
              <a:buFont typeface="Wingdings" panose="05000000000000000000" charset="0"/>
              <a:buNone/>
            </a:pPr>
            <a:r>
              <a:rPr lang="en-US" altLang="zh-CN" sz="2400">
                <a:solidFill>
                  <a:schemeClr val="tx1"/>
                </a:solidFill>
                <a:sym typeface="+mn-ea"/>
              </a:rPr>
              <a:t>resolution</a:t>
            </a:r>
            <a:endParaRPr lang="en-US" altLang="zh-CN" sz="2400">
              <a:solidFill>
                <a:schemeClr val="tx1"/>
              </a:solidFill>
              <a:sym typeface="+mn-ea"/>
            </a:endParaRPr>
          </a:p>
          <a:p>
            <a:pPr indent="0" algn="l">
              <a:buFont typeface="Wingdings" panose="05000000000000000000" charset="0"/>
              <a:buNone/>
            </a:pPr>
            <a:r>
              <a:rPr lang="en-US" altLang="zh-CN" sz="2400">
                <a:solidFill>
                  <a:schemeClr val="tx1"/>
                </a:solidFill>
                <a:sym typeface="+mn-ea"/>
              </a:rPr>
              <a:t>satellite</a:t>
            </a:r>
            <a:endParaRPr lang="en-US" altLang="zh-CN" sz="2400">
              <a:solidFill>
                <a:schemeClr val="tx1"/>
              </a:solidFill>
              <a:sym typeface="+mn-ea"/>
            </a:endParaRPr>
          </a:p>
          <a:p>
            <a:pPr indent="0" algn="l">
              <a:buFont typeface="Wingdings" panose="05000000000000000000" charset="0"/>
              <a:buNone/>
            </a:pPr>
            <a:r>
              <a:rPr lang="en-US" altLang="zh-CN" sz="2400">
                <a:solidFill>
                  <a:schemeClr val="tx1"/>
                </a:solidFill>
                <a:sym typeface="+mn-ea"/>
              </a:rPr>
              <a:t>cloud </a:t>
            </a:r>
            <a:r>
              <a:rPr lang="en-US" altLang="zh-CN" sz="2400">
                <a:solidFill>
                  <a:schemeClr val="tx1"/>
                </a:solidFill>
                <a:sym typeface="+mn-ea"/>
              </a:rPr>
              <a:t>cover</a:t>
            </a:r>
            <a:endParaRPr lang="en-US" altLang="zh-CN" sz="2400">
              <a:solidFill>
                <a:schemeClr val="tx1"/>
              </a:solidFill>
              <a:sym typeface="+mn-ea"/>
            </a:endParaRPr>
          </a:p>
          <a:p>
            <a:pPr indent="0" algn="l">
              <a:buFont typeface="Arial" panose="020B0604020202020204" pitchFamily="34" charset="0"/>
              <a:buNone/>
            </a:pPr>
            <a:endParaRPr lang="en-US" altLang="zh-CN" sz="2400">
              <a:solidFill>
                <a:schemeClr val="tx1"/>
              </a:solidFill>
              <a:sym typeface="+mn-ea"/>
            </a:endParaRPr>
          </a:p>
        </p:txBody>
      </p:sp>
      <p:sp>
        <p:nvSpPr>
          <p:cNvPr id="2" name="文本框 1"/>
          <p:cNvSpPr txBox="1"/>
          <p:nvPr/>
        </p:nvSpPr>
        <p:spPr>
          <a:xfrm>
            <a:off x="63500" y="6551295"/>
            <a:ext cx="10656570" cy="306705"/>
          </a:xfrm>
          <a:prstGeom prst="rect">
            <a:avLst/>
          </a:prstGeom>
          <a:noFill/>
        </p:spPr>
        <p:txBody>
          <a:bodyPr wrap="square" rtlCol="0" anchor="t">
            <a:spAutoFit/>
          </a:bodyPr>
          <a:p>
            <a:r>
              <a:rPr lang="en-US" altLang="zh-CN" sz="1400"/>
              <a:t>source: https://www.mdpi.com/2072-4292/13/4/603#Appendix_A_Cloud_Coverage_Analysis_of_the_Sentinel2_Imagery</a:t>
            </a:r>
            <a:endParaRPr lang="en-US" altLang="zh-CN" sz="140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 name="副标题 2"/>
          <p:cNvSpPr>
            <a:spLocks noGrp="1"/>
          </p:cNvSpPr>
          <p:nvPr>
            <p:ph type="subTitle" idx="1"/>
          </p:nvPr>
        </p:nvSpPr>
        <p:spPr>
          <a:xfrm>
            <a:off x="677545" y="160020"/>
            <a:ext cx="11026140" cy="4136390"/>
          </a:xfrm>
        </p:spPr>
        <p:txBody>
          <a:bodyPr>
            <a:normAutofit/>
          </a:bodyPr>
          <a:p>
            <a:pPr algn="l">
              <a:buFont typeface="Arial" panose="020B0604020202020204" pitchFamily="34" charset="0"/>
            </a:pPr>
            <a:r>
              <a:rPr lang="en-US" altLang="fr-CA" sz="4000">
                <a:sym typeface="+mn-ea"/>
              </a:rPr>
              <a:t>Model5</a:t>
            </a:r>
            <a:r>
              <a:rPr lang="zh-CN" altLang="en-US" sz="4000">
                <a:sym typeface="+mn-ea"/>
              </a:rPr>
              <a:t>：</a:t>
            </a:r>
            <a:r>
              <a:rPr lang="en-US" altLang="zh-CN" sz="4000">
                <a:sym typeface="+mn-ea"/>
              </a:rPr>
              <a:t>[</a:t>
            </a:r>
            <a:r>
              <a:rPr lang="fr-CA" altLang="zh-CN" sz="4000">
                <a:sym typeface="+mn-ea"/>
              </a:rPr>
              <a:t>Img </a:t>
            </a:r>
            <a:r>
              <a:rPr lang="en-US" altLang="fr-CA" sz="4000">
                <a:sym typeface="+mn-ea"/>
              </a:rPr>
              <a:t>-&gt;feature + Remote Sensor-&gt;feature]-&gt;MLP</a:t>
            </a:r>
            <a:endParaRPr lang="en-US" altLang="fr-CA" sz="4000">
              <a:sym typeface="+mn-ea"/>
            </a:endParaRPr>
          </a:p>
          <a:p>
            <a:pPr algn="l">
              <a:buFont typeface="Wingdings" panose="05000000000000000000" charset="0"/>
            </a:pPr>
            <a:endParaRPr lang="en-US" altLang="fr-CA" sz="4000">
              <a:sym typeface="+mn-ea"/>
            </a:endParaRPr>
          </a:p>
        </p:txBody>
      </p:sp>
      <p:sp>
        <p:nvSpPr>
          <p:cNvPr id="5" name="矩形 4"/>
          <p:cNvSpPr/>
          <p:nvPr/>
        </p:nvSpPr>
        <p:spPr>
          <a:xfrm>
            <a:off x="419100" y="2040890"/>
            <a:ext cx="3293110" cy="4487545"/>
          </a:xfrm>
          <a:prstGeom prst="rect">
            <a:avLst/>
          </a:prstGeom>
          <a:noFill/>
          <a:ln>
            <a:noFill/>
          </a:ln>
          <a:extLst>
            <a:ext uri="{909E8E84-426E-40DD-AFC4-6F175D3DCCD1}">
              <a14:hiddenFill xmlns:a14="http://schemas.microsoft.com/office/drawing/2010/main">
                <a:solidFill>
                  <a:schemeClr val="accent1"/>
                </a:solidFill>
              </a14:hiddenFill>
            </a:ext>
          </a:extLst>
        </p:spPr>
        <p:style>
          <a:lnRef idx="2">
            <a:schemeClr val="accent1">
              <a:lumMod val="75000"/>
            </a:schemeClr>
          </a:lnRef>
          <a:fillRef idx="1">
            <a:schemeClr val="accent1"/>
          </a:fillRef>
          <a:effectRef idx="0">
            <a:srgbClr val="FFFFFF"/>
          </a:effectRef>
          <a:fontRef idx="minor">
            <a:schemeClr val="lt1"/>
          </a:fontRef>
        </p:style>
        <p:txBody>
          <a:bodyPr rtlCol="0" anchor="ctr"/>
          <a:p>
            <a:pPr algn="l">
              <a:buFont typeface="Wingdings" panose="05000000000000000000" charset="0"/>
            </a:pPr>
            <a:r>
              <a:rPr lang="en-US" altLang="zh-CN" sz="2400">
                <a:solidFill>
                  <a:schemeClr val="tx1"/>
                </a:solidFill>
                <a:sym typeface="+mn-ea"/>
              </a:rPr>
              <a:t>For each sample, the median value of all Sentinel‑2 bands is combined with the engineered features and metadata, then passed into an MLP.</a:t>
            </a:r>
            <a:endParaRPr lang="en-US" altLang="zh-CN" sz="2400">
              <a:solidFill>
                <a:schemeClr val="tx1"/>
              </a:solidFill>
              <a:sym typeface="+mn-ea"/>
            </a:endParaRPr>
          </a:p>
          <a:p>
            <a:pPr indent="0" algn="l">
              <a:buFont typeface="Arial" panose="020B0604020202020204" pitchFamily="34" charset="0"/>
              <a:buNone/>
            </a:pPr>
            <a:endParaRPr lang="en-US" altLang="zh-CN" sz="2400">
              <a:solidFill>
                <a:schemeClr val="tx1"/>
              </a:solidFill>
              <a:sym typeface="+mn-ea"/>
            </a:endParaRPr>
          </a:p>
        </p:txBody>
      </p:sp>
      <p:pic>
        <p:nvPicPr>
          <p:cNvPr id="4" name="图片 3"/>
          <p:cNvPicPr/>
          <p:nvPr/>
        </p:nvPicPr>
        <p:blipFill>
          <a:blip r:embed="rId1"/>
          <a:stretch>
            <a:fillRect/>
          </a:stretch>
        </p:blipFill>
        <p:spPr>
          <a:xfrm>
            <a:off x="3416300" y="1603375"/>
            <a:ext cx="8539480" cy="4925060"/>
          </a:xfrm>
          <a:prstGeom prst="rect">
            <a:avLst/>
          </a:prstGeom>
        </p:spPr>
      </p:pic>
      <p:sp>
        <p:nvSpPr>
          <p:cNvPr id="6" name="文本框 5"/>
          <p:cNvSpPr txBox="1"/>
          <p:nvPr/>
        </p:nvSpPr>
        <p:spPr>
          <a:xfrm>
            <a:off x="63500" y="6551295"/>
            <a:ext cx="10656570" cy="306705"/>
          </a:xfrm>
          <a:prstGeom prst="rect">
            <a:avLst/>
          </a:prstGeom>
          <a:noFill/>
        </p:spPr>
        <p:txBody>
          <a:bodyPr wrap="square" rtlCol="0" anchor="t">
            <a:spAutoFit/>
          </a:bodyPr>
          <a:p>
            <a:r>
              <a:rPr lang="en-US" altLang="zh-CN" sz="1400"/>
              <a:t>source: https://www.mdpi.com/2072-4292/13/4/603#Appendix_A_Cloud_Coverage_Analysis_of_the_Sentinel2_Imagery</a:t>
            </a:r>
            <a:endParaRPr lang="en-US" altLang="zh-CN" sz="140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 name="副标题 2"/>
          <p:cNvSpPr>
            <a:spLocks noGrp="1"/>
          </p:cNvSpPr>
          <p:nvPr>
            <p:ph type="subTitle" idx="1"/>
          </p:nvPr>
        </p:nvSpPr>
        <p:spPr>
          <a:xfrm>
            <a:off x="677545" y="160020"/>
            <a:ext cx="11026140" cy="4136390"/>
          </a:xfrm>
        </p:spPr>
        <p:txBody>
          <a:bodyPr>
            <a:normAutofit/>
          </a:bodyPr>
          <a:p>
            <a:pPr algn="l">
              <a:buFont typeface="Wingdings" panose="05000000000000000000" charset="0"/>
            </a:pPr>
            <a:r>
              <a:rPr lang="en-US" altLang="fr-CA" sz="4000">
                <a:sym typeface="+mn-ea"/>
              </a:rPr>
              <a:t>Result</a:t>
            </a:r>
            <a:endParaRPr lang="en-US" altLang="fr-CA" sz="4000">
              <a:sym typeface="+mn-ea"/>
            </a:endParaRPr>
          </a:p>
        </p:txBody>
      </p:sp>
      <p:graphicFrame>
        <p:nvGraphicFramePr>
          <p:cNvPr id="7" name="表格 6"/>
          <p:cNvGraphicFramePr/>
          <p:nvPr/>
        </p:nvGraphicFramePr>
        <p:xfrm>
          <a:off x="565150" y="972820"/>
          <a:ext cx="11168380" cy="5504180"/>
        </p:xfrm>
        <a:graphic>
          <a:graphicData uri="http://schemas.openxmlformats.org/drawingml/2006/table">
            <a:tbl>
              <a:tblPr/>
              <a:tblGrid>
                <a:gridCol w="2792095"/>
                <a:gridCol w="2792095"/>
                <a:gridCol w="2792095"/>
                <a:gridCol w="2792095"/>
              </a:tblGrid>
              <a:tr h="935990">
                <a:tc>
                  <a:txBody>
                    <a:bodyPr/>
                    <a:p>
                      <a:pPr>
                        <a:spcBef>
                          <a:spcPct val="0"/>
                        </a:spcBef>
                        <a:spcAft>
                          <a:spcPct val="0"/>
                        </a:spcAft>
                      </a:pPr>
                      <a:r>
                        <a:rPr lang="en-US" altLang="zh-CN" sz="2400">
                          <a:solidFill>
                            <a:schemeClr val="bg1"/>
                          </a:solidFill>
                          <a:ea typeface="Google Sans Text"/>
                          <a:cs typeface="+mn-lt"/>
                        </a:rPr>
                        <a:t>Model Input + Algorithm</a:t>
                      </a:r>
                      <a:endParaRPr lang="en-US" altLang="zh-CN" sz="2400">
                        <a:solidFill>
                          <a:schemeClr val="bg1"/>
                        </a:solidFill>
                        <a:ea typeface="Google Sans Text"/>
                        <a:cs typeface="+mn-lt"/>
                      </a:endParaRPr>
                    </a:p>
                  </a:txBody>
                  <a:tcPr marL="0" marR="0" marT="0" marB="0"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solidFill>
                      <a:schemeClr val="accent1"/>
                    </a:solidFill>
                  </a:tcPr>
                </a:tc>
                <a:tc>
                  <a:txBody>
                    <a:bodyPr/>
                    <a:p>
                      <a:pPr>
                        <a:spcBef>
                          <a:spcPct val="0"/>
                        </a:spcBef>
                        <a:spcAft>
                          <a:spcPct val="0"/>
                        </a:spcAft>
                      </a:pPr>
                      <a:r>
                        <a:rPr lang="en-US" altLang="zh-CN" sz="2400">
                          <a:solidFill>
                            <a:schemeClr val="bg1"/>
                          </a:solidFill>
                          <a:ea typeface="Google Sans Text"/>
                          <a:cs typeface="+mn-lt"/>
                        </a:rPr>
                        <a:t>Target: GDM_g (R2) (Train / Val)</a:t>
                      </a:r>
                      <a:endParaRPr lang="en-US" altLang="zh-CN" sz="2400">
                        <a:solidFill>
                          <a:schemeClr val="bg1"/>
                        </a:solidFill>
                        <a:ea typeface="Google Sans Text"/>
                        <a:cs typeface="+mn-lt"/>
                      </a:endParaRPr>
                    </a:p>
                  </a:txBody>
                  <a:tcPr marL="0" marR="0" marT="0" marB="0"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solidFill>
                      <a:schemeClr val="accent1"/>
                    </a:solidFill>
                  </a:tcPr>
                </a:tc>
                <a:tc>
                  <a:txBody>
                    <a:bodyPr/>
                    <a:p>
                      <a:pPr>
                        <a:spcBef>
                          <a:spcPct val="0"/>
                        </a:spcBef>
                        <a:spcAft>
                          <a:spcPct val="0"/>
                        </a:spcAft>
                      </a:pPr>
                      <a:r>
                        <a:rPr lang="en-US" altLang="zh-CN" sz="2400">
                          <a:solidFill>
                            <a:schemeClr val="bg1"/>
                          </a:solidFill>
                          <a:ea typeface="Google Sans Text"/>
                          <a:cs typeface="+mn-lt"/>
                        </a:rPr>
                        <a:t>Target: Dry_Total_g (R2) (Train / Val)</a:t>
                      </a:r>
                      <a:endParaRPr lang="en-US" altLang="zh-CN" sz="2400">
                        <a:solidFill>
                          <a:schemeClr val="bg1"/>
                        </a:solidFill>
                        <a:ea typeface="Google Sans Text"/>
                        <a:cs typeface="+mn-lt"/>
                      </a:endParaRPr>
                    </a:p>
                  </a:txBody>
                  <a:tcPr marL="0" marR="0" marT="0" marB="0"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solidFill>
                      <a:schemeClr val="accent1"/>
                    </a:solidFill>
                  </a:tcPr>
                </a:tc>
                <a:tc>
                  <a:txBody>
                    <a:bodyPr/>
                    <a:p>
                      <a:pPr>
                        <a:spcBef>
                          <a:spcPct val="0"/>
                        </a:spcBef>
                        <a:spcAft>
                          <a:spcPct val="0"/>
                        </a:spcAft>
                      </a:pPr>
                      <a:r>
                        <a:rPr lang="en-US" altLang="zh-CN" sz="2400">
                          <a:solidFill>
                            <a:schemeClr val="bg1"/>
                          </a:solidFill>
                          <a:ea typeface="Google Sans Text"/>
                          <a:cs typeface="+mn-lt"/>
                        </a:rPr>
                        <a:t>Training time</a:t>
                      </a:r>
                      <a:r>
                        <a:rPr lang="zh-CN" altLang="en-US" sz="2400">
                          <a:solidFill>
                            <a:schemeClr val="bg1"/>
                          </a:solidFill>
                          <a:ea typeface="Google Sans Text"/>
                          <a:cs typeface="+mn-lt"/>
                        </a:rPr>
                        <a:t> </a:t>
                      </a:r>
                      <a:r>
                        <a:rPr lang="en-US" altLang="zh-CN" sz="2400">
                          <a:solidFill>
                            <a:schemeClr val="bg1"/>
                          </a:solidFill>
                          <a:ea typeface="Google Sans Text"/>
                          <a:cs typeface="+mn-lt"/>
                        </a:rPr>
                        <a:t>(sec)</a:t>
                      </a:r>
                      <a:endParaRPr lang="en-US" altLang="zh-CN" sz="2400">
                        <a:solidFill>
                          <a:schemeClr val="bg1"/>
                        </a:solidFill>
                        <a:ea typeface="Google Sans Text"/>
                        <a:cs typeface="+mn-lt"/>
                      </a:endParaRPr>
                    </a:p>
                  </a:txBody>
                  <a:tcPr marL="0" marR="0" marT="0" marB="0"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solidFill>
                      <a:schemeClr val="accent1"/>
                    </a:solidFill>
                  </a:tcPr>
                </a:tc>
              </a:tr>
              <a:tr h="800735">
                <a:tc>
                  <a:txBody>
                    <a:bodyPr/>
                    <a:p>
                      <a:pPr>
                        <a:spcBef>
                          <a:spcPct val="0"/>
                        </a:spcBef>
                        <a:spcAft>
                          <a:spcPct val="0"/>
                        </a:spcAft>
                      </a:pPr>
                      <a:r>
                        <a:rPr lang="en-US" altLang="zh-CN" sz="2400" b="1">
                          <a:ea typeface="Google Sans Text"/>
                          <a:cs typeface="+mn-lt"/>
                        </a:rPr>
                        <a:t>Images + ResNet</a:t>
                      </a:r>
                      <a:endParaRPr lang="en-US" altLang="zh-CN" sz="2400" b="1">
                        <a:ea typeface="Google Sans Text"/>
                        <a:cs typeface="+mn-lt"/>
                      </a:endParaRPr>
                    </a:p>
                  </a:txBody>
                  <a:tcPr marL="0" marR="0" marT="0" marB="0"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noFill/>
                  </a:tcPr>
                </a:tc>
                <a:tc>
                  <a:txBody>
                    <a:bodyPr/>
                    <a:p>
                      <a:pPr>
                        <a:spcBef>
                          <a:spcPct val="0"/>
                        </a:spcBef>
                      </a:pPr>
                      <a:r>
                        <a:rPr lang="en-US" altLang="zh-CN" sz="2400">
                          <a:ea typeface="Google Sans Text"/>
                          <a:cs typeface="+mn-lt"/>
                        </a:rPr>
                        <a:t>-0.4491 / -1.2452</a:t>
                      </a:r>
                      <a:endParaRPr lang="en-US" altLang="zh-CN" sz="2400">
                        <a:ea typeface="Google Sans Text"/>
                        <a:cs typeface="+mn-lt"/>
                      </a:endParaRPr>
                    </a:p>
                  </a:txBody>
                  <a:tcPr marL="0" marR="0" marT="0" marB="0"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noFill/>
                  </a:tcPr>
                </a:tc>
                <a:tc>
                  <a:txBody>
                    <a:bodyPr/>
                    <a:p>
                      <a:pPr>
                        <a:spcBef>
                          <a:spcPct val="0"/>
                        </a:spcBef>
                      </a:pPr>
                      <a:r>
                        <a:rPr lang="en-US" altLang="zh-CN" sz="2400">
                          <a:ea typeface="Google Sans Text"/>
                          <a:cs typeface="+mn-lt"/>
                        </a:rPr>
                        <a:t>-0.6701 / -1.2970</a:t>
                      </a:r>
                      <a:endParaRPr lang="en-US" altLang="zh-CN" sz="2400">
                        <a:ea typeface="Google Sans Text"/>
                        <a:cs typeface="+mn-lt"/>
                      </a:endParaRPr>
                    </a:p>
                  </a:txBody>
                  <a:tcPr marL="0" marR="0" marT="0" marB="0"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noFill/>
                  </a:tcPr>
                </a:tc>
                <a:tc>
                  <a:txBody>
                    <a:bodyPr/>
                    <a:p>
                      <a:pPr>
                        <a:spcBef>
                          <a:spcPct val="0"/>
                        </a:spcBef>
                      </a:pPr>
                      <a:r>
                        <a:rPr lang="en-US" altLang="zh-CN" sz="2400">
                          <a:ea typeface="Google Sans Text"/>
                          <a:cs typeface="+mn-lt"/>
                        </a:rPr>
                        <a:t>267.15 (</a:t>
                      </a:r>
                      <a:r>
                        <a:rPr lang="en-US" altLang="zh-CN" sz="2400">
                          <a:ea typeface="Google Sans Text"/>
                          <a:cs typeface="+mn-lt"/>
                        </a:rPr>
                        <a:t>Slowest)</a:t>
                      </a:r>
                      <a:endParaRPr lang="en-US" altLang="zh-CN" sz="2400">
                        <a:ea typeface="Google Sans Text"/>
                        <a:cs typeface="+mn-lt"/>
                      </a:endParaRPr>
                    </a:p>
                  </a:txBody>
                  <a:tcPr marL="0" marR="0" marT="0" marB="0"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noFill/>
                  </a:tcPr>
                </a:tc>
              </a:tr>
              <a:tr h="1097280">
                <a:tc>
                  <a:txBody>
                    <a:bodyPr/>
                    <a:p>
                      <a:pPr>
                        <a:spcBef>
                          <a:spcPct val="0"/>
                        </a:spcBef>
                        <a:spcAft>
                          <a:spcPct val="0"/>
                        </a:spcAft>
                      </a:pPr>
                      <a:r>
                        <a:rPr lang="en-US" altLang="zh-CN" sz="2400" b="1">
                          <a:ea typeface="Google Sans Text"/>
                          <a:cs typeface="+mn-lt"/>
                        </a:rPr>
                        <a:t>Hand-crafted + Meta + XGBoost</a:t>
                      </a:r>
                      <a:endParaRPr lang="en-US" altLang="zh-CN" sz="2400">
                        <a:ea typeface="Google Sans Text"/>
                        <a:cs typeface="+mn-lt"/>
                      </a:endParaRPr>
                    </a:p>
                    <a:p>
                      <a:pPr>
                        <a:spcBef>
                          <a:spcPct val="0"/>
                        </a:spcBef>
                        <a:spcAft>
                          <a:spcPct val="0"/>
                        </a:spcAft>
                      </a:pPr>
                      <a:endParaRPr lang="en-US" altLang="zh-CN" sz="2400" b="1">
                        <a:ea typeface="Google Sans Text"/>
                        <a:cs typeface="+mn-lt"/>
                      </a:endParaRPr>
                    </a:p>
                  </a:txBody>
                  <a:tcPr marL="0" marR="0" marT="0" marB="0"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noFill/>
                  </a:tcPr>
                </a:tc>
                <a:tc>
                  <a:txBody>
                    <a:bodyPr/>
                    <a:p>
                      <a:pPr>
                        <a:spcBef>
                          <a:spcPct val="0"/>
                        </a:spcBef>
                      </a:pPr>
                      <a:r>
                        <a:rPr lang="en-US" altLang="zh-CN" sz="2400">
                          <a:highlight>
                            <a:srgbClr val="FFFF00"/>
                          </a:highlight>
                          <a:ea typeface="Google Sans Text"/>
                          <a:cs typeface="+mn-lt"/>
                        </a:rPr>
                        <a:t>0.9997 / </a:t>
                      </a:r>
                      <a:r>
                        <a:rPr lang="en-US" altLang="zh-CN" sz="2400" b="1">
                          <a:highlight>
                            <a:srgbClr val="FFFF00"/>
                          </a:highlight>
                          <a:ea typeface="Google Sans Text"/>
                          <a:cs typeface="+mn-lt"/>
                        </a:rPr>
                        <a:t>0.7140</a:t>
                      </a:r>
                      <a:r>
                        <a:rPr lang="en-US" altLang="zh-CN" sz="2400">
                          <a:highlight>
                            <a:srgbClr val="FFFF00"/>
                          </a:highlight>
                          <a:ea typeface="Google Sans Text"/>
                          <a:cs typeface="+mn-lt"/>
                        </a:rPr>
                        <a:t> </a:t>
                      </a:r>
                      <a:r>
                        <a:rPr lang="zh-CN" altLang="en-US" sz="2400">
                          <a:highlight>
                            <a:srgbClr val="FFFF00"/>
                          </a:highlight>
                          <a:ea typeface="Google Sans Text"/>
                          <a:cs typeface="+mn-lt"/>
                        </a:rPr>
                        <a:t>👑</a:t>
                      </a:r>
                      <a:endParaRPr lang="zh-CN" altLang="en-US" sz="2400">
                        <a:highlight>
                          <a:srgbClr val="FFFF00"/>
                        </a:highlight>
                        <a:ea typeface="Google Sans Text"/>
                        <a:cs typeface="+mn-lt"/>
                      </a:endParaRPr>
                    </a:p>
                  </a:txBody>
                  <a:tcPr marL="0" marR="0" marT="0" marB="0"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noFill/>
                  </a:tcPr>
                </a:tc>
                <a:tc>
                  <a:txBody>
                    <a:bodyPr/>
                    <a:p>
                      <a:pPr>
                        <a:spcBef>
                          <a:spcPct val="0"/>
                        </a:spcBef>
                      </a:pPr>
                      <a:r>
                        <a:rPr lang="en-US" altLang="zh-CN" sz="2400">
                          <a:highlight>
                            <a:srgbClr val="FFFF00"/>
                          </a:highlight>
                          <a:ea typeface="Google Sans Text"/>
                          <a:cs typeface="+mn-lt"/>
                        </a:rPr>
                        <a:t>0.9998 / </a:t>
                      </a:r>
                      <a:r>
                        <a:rPr lang="en-US" altLang="zh-CN" sz="2400" b="1">
                          <a:highlight>
                            <a:srgbClr val="FFFF00"/>
                          </a:highlight>
                          <a:ea typeface="Google Sans Text"/>
                          <a:cs typeface="+mn-lt"/>
                        </a:rPr>
                        <a:t>0.6618</a:t>
                      </a:r>
                      <a:r>
                        <a:rPr lang="en-US" altLang="zh-CN" sz="2400">
                          <a:highlight>
                            <a:srgbClr val="FFFF00"/>
                          </a:highlight>
                          <a:ea typeface="Google Sans Text"/>
                          <a:cs typeface="+mn-lt"/>
                        </a:rPr>
                        <a:t> </a:t>
                      </a:r>
                      <a:r>
                        <a:rPr lang="zh-CN" altLang="en-US" sz="2400">
                          <a:highlight>
                            <a:srgbClr val="FFFF00"/>
                          </a:highlight>
                          <a:ea typeface="Google Sans Text"/>
                          <a:cs typeface="+mn-lt"/>
                        </a:rPr>
                        <a:t>👑</a:t>
                      </a:r>
                      <a:endParaRPr lang="zh-CN" altLang="en-US" sz="2400">
                        <a:highlight>
                          <a:srgbClr val="FFFF00"/>
                        </a:highlight>
                        <a:ea typeface="Google Sans Text"/>
                        <a:cs typeface="+mn-lt"/>
                      </a:endParaRPr>
                    </a:p>
                  </a:txBody>
                  <a:tcPr marL="0" marR="0" marT="0" marB="0"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noFill/>
                  </a:tcPr>
                </a:tc>
                <a:tc>
                  <a:txBody>
                    <a:bodyPr/>
                    <a:p>
                      <a:pPr>
                        <a:spcBef>
                          <a:spcPct val="0"/>
                        </a:spcBef>
                      </a:pPr>
                      <a:r>
                        <a:rPr lang="en-US" altLang="zh-CN" sz="2400">
                          <a:ea typeface="Google Sans Text"/>
                          <a:cs typeface="+mn-lt"/>
                        </a:rPr>
                        <a:t>251.00</a:t>
                      </a:r>
                      <a:endParaRPr lang="en-US" altLang="zh-CN" sz="2400">
                        <a:ea typeface="Google Sans Text"/>
                        <a:cs typeface="+mn-lt"/>
                      </a:endParaRPr>
                    </a:p>
                  </a:txBody>
                  <a:tcPr marL="0" marR="0" marT="0" marB="0"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noFill/>
                  </a:tcPr>
                </a:tc>
              </a:tr>
              <a:tr h="801370">
                <a:tc>
                  <a:txBody>
                    <a:bodyPr/>
                    <a:p>
                      <a:pPr>
                        <a:spcBef>
                          <a:spcPct val="0"/>
                        </a:spcBef>
                        <a:spcAft>
                          <a:spcPct val="0"/>
                        </a:spcAft>
                      </a:pPr>
                      <a:r>
                        <a:rPr lang="en-US" altLang="zh-CN" sz="2400" b="1">
                          <a:ea typeface="Google Sans Text"/>
                          <a:cs typeface="+mn-lt"/>
                        </a:rPr>
                        <a:t>Hand-crafted + Meta + MLP</a:t>
                      </a:r>
                      <a:endParaRPr lang="en-US" altLang="zh-CN" sz="2400" b="1">
                        <a:ea typeface="Google Sans Text"/>
                        <a:cs typeface="+mn-lt"/>
                      </a:endParaRPr>
                    </a:p>
                  </a:txBody>
                  <a:tcPr marL="0" marR="0" marT="0" marB="0"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noFill/>
                  </a:tcPr>
                </a:tc>
                <a:tc>
                  <a:txBody>
                    <a:bodyPr/>
                    <a:p>
                      <a:pPr>
                        <a:spcBef>
                          <a:spcPct val="0"/>
                        </a:spcBef>
                      </a:pPr>
                      <a:r>
                        <a:rPr lang="en-US" altLang="zh-CN" sz="2400">
                          <a:ea typeface="Google Sans Text"/>
                          <a:cs typeface="+mn-lt"/>
                        </a:rPr>
                        <a:t>0.5519 / 0.3956</a:t>
                      </a:r>
                      <a:endParaRPr lang="en-US" altLang="zh-CN" sz="2400">
                        <a:ea typeface="Google Sans Text"/>
                        <a:cs typeface="+mn-lt"/>
                      </a:endParaRPr>
                    </a:p>
                  </a:txBody>
                  <a:tcPr marL="0" marR="0" marT="0" marB="0"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noFill/>
                  </a:tcPr>
                </a:tc>
                <a:tc>
                  <a:txBody>
                    <a:bodyPr/>
                    <a:p>
                      <a:pPr>
                        <a:spcBef>
                          <a:spcPct val="0"/>
                        </a:spcBef>
                      </a:pPr>
                      <a:r>
                        <a:rPr lang="en-US" altLang="zh-CN" sz="2400">
                          <a:ea typeface="Google Sans Text"/>
                          <a:cs typeface="+mn-lt"/>
                        </a:rPr>
                        <a:t>0.4625 / 0.1569</a:t>
                      </a:r>
                      <a:endParaRPr lang="en-US" altLang="zh-CN" sz="2400">
                        <a:ea typeface="Google Sans Text"/>
                        <a:cs typeface="+mn-lt"/>
                      </a:endParaRPr>
                    </a:p>
                  </a:txBody>
                  <a:tcPr marL="0" marR="0" marT="0" marB="0"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noFill/>
                  </a:tcPr>
                </a:tc>
                <a:tc>
                  <a:txBody>
                    <a:bodyPr/>
                    <a:p>
                      <a:pPr>
                        <a:spcBef>
                          <a:spcPct val="0"/>
                        </a:spcBef>
                      </a:pPr>
                      <a:r>
                        <a:rPr lang="en-US" altLang="zh-CN" sz="2400" b="1">
                          <a:ea typeface="Google Sans Text"/>
                          <a:cs typeface="+mn-lt"/>
                        </a:rPr>
                        <a:t>112.91</a:t>
                      </a:r>
                      <a:r>
                        <a:rPr lang="en-US" altLang="zh-CN" sz="2400">
                          <a:ea typeface="Google Sans Text"/>
                          <a:cs typeface="+mn-lt"/>
                        </a:rPr>
                        <a:t> (</a:t>
                      </a:r>
                      <a:r>
                        <a:rPr lang="en-US" altLang="zh-CN" sz="2400">
                          <a:ea typeface="Google Sans Text"/>
                          <a:cs typeface="+mn-lt"/>
                        </a:rPr>
                        <a:t>Fastest)</a:t>
                      </a:r>
                      <a:endParaRPr lang="en-US" altLang="zh-CN" sz="2400">
                        <a:ea typeface="Google Sans Text"/>
                        <a:cs typeface="+mn-lt"/>
                      </a:endParaRPr>
                    </a:p>
                  </a:txBody>
                  <a:tcPr marL="0" marR="0" marT="0" marB="0"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noFill/>
                  </a:tcPr>
                </a:tc>
              </a:tr>
              <a:tr h="800735">
                <a:tc>
                  <a:txBody>
                    <a:bodyPr/>
                    <a:p>
                      <a:pPr>
                        <a:spcBef>
                          <a:spcPct val="0"/>
                        </a:spcBef>
                        <a:spcAft>
                          <a:spcPct val="0"/>
                        </a:spcAft>
                      </a:pPr>
                      <a:r>
                        <a:rPr lang="en-US" altLang="zh-CN" sz="2400" b="1">
                          <a:ea typeface="Google Sans Text"/>
                          <a:cs typeface="+mn-lt"/>
                        </a:rPr>
                        <a:t>Sentinel-2 + Features + MLP</a:t>
                      </a:r>
                      <a:endParaRPr lang="en-US" altLang="zh-CN" sz="2400" b="1">
                        <a:ea typeface="Google Sans Text"/>
                        <a:cs typeface="+mn-lt"/>
                      </a:endParaRPr>
                    </a:p>
                  </a:txBody>
                  <a:tcPr marL="0" marR="0" marT="0" marB="0"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noFill/>
                  </a:tcPr>
                </a:tc>
                <a:tc>
                  <a:txBody>
                    <a:bodyPr/>
                    <a:p>
                      <a:pPr>
                        <a:spcBef>
                          <a:spcPct val="0"/>
                        </a:spcBef>
                      </a:pPr>
                      <a:r>
                        <a:rPr lang="en-US" altLang="zh-CN" sz="2400">
                          <a:ea typeface="Google Sans Text"/>
                          <a:cs typeface="+mn-lt"/>
                        </a:rPr>
                        <a:t>0.3524 / 0.5116</a:t>
                      </a:r>
                      <a:endParaRPr lang="en-US" altLang="zh-CN" sz="2400">
                        <a:ea typeface="Google Sans Text"/>
                        <a:cs typeface="+mn-lt"/>
                      </a:endParaRPr>
                    </a:p>
                  </a:txBody>
                  <a:tcPr marL="0" marR="0" marT="0" marB="0"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noFill/>
                  </a:tcPr>
                </a:tc>
                <a:tc>
                  <a:txBody>
                    <a:bodyPr/>
                    <a:p>
                      <a:pPr>
                        <a:spcBef>
                          <a:spcPct val="0"/>
                        </a:spcBef>
                      </a:pPr>
                      <a:r>
                        <a:rPr lang="en-US" altLang="zh-CN" sz="2400">
                          <a:ea typeface="Google Sans Text"/>
                          <a:cs typeface="+mn-lt"/>
                        </a:rPr>
                        <a:t>0.3898 / 0.2550</a:t>
                      </a:r>
                      <a:endParaRPr lang="en-US" altLang="zh-CN" sz="2400">
                        <a:ea typeface="Google Sans Text"/>
                        <a:cs typeface="+mn-lt"/>
                      </a:endParaRPr>
                    </a:p>
                  </a:txBody>
                  <a:tcPr marL="0" marR="0" marT="0" marB="0"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noFill/>
                  </a:tcPr>
                </a:tc>
                <a:tc>
                  <a:txBody>
                    <a:bodyPr/>
                    <a:p>
                      <a:pPr>
                        <a:spcBef>
                          <a:spcPct val="0"/>
                        </a:spcBef>
                      </a:pPr>
                      <a:r>
                        <a:rPr lang="en-US" altLang="zh-CN" sz="2400">
                          <a:ea typeface="Google Sans Text"/>
                          <a:cs typeface="+mn-lt"/>
                        </a:rPr>
                        <a:t>126.72</a:t>
                      </a:r>
                      <a:endParaRPr lang="en-US" altLang="zh-CN" sz="2400">
                        <a:ea typeface="Google Sans Text"/>
                        <a:cs typeface="+mn-lt"/>
                      </a:endParaRPr>
                    </a:p>
                  </a:txBody>
                  <a:tcPr marL="0" marR="0" marT="0" marB="0"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noFill/>
                  </a:tcPr>
                </a:tc>
              </a:tr>
              <a:tr h="1068070">
                <a:tc>
                  <a:txBody>
                    <a:bodyPr/>
                    <a:p>
                      <a:pPr>
                        <a:spcBef>
                          <a:spcPct val="0"/>
                        </a:spcBef>
                        <a:spcAft>
                          <a:spcPct val="0"/>
                        </a:spcAft>
                      </a:pPr>
                      <a:r>
                        <a:rPr lang="en-US" altLang="zh-CN" sz="2400" b="1">
                          <a:ea typeface="Google Sans Text"/>
                          <a:cs typeface="+mn-lt"/>
                        </a:rPr>
                        <a:t>Fusion (ResNet + XGBoost)</a:t>
                      </a:r>
                      <a:endParaRPr lang="en-US" altLang="zh-CN" sz="2400" b="1">
                        <a:ea typeface="Google Sans Text"/>
                        <a:cs typeface="+mn-lt"/>
                      </a:endParaRPr>
                    </a:p>
                  </a:txBody>
                  <a:tcPr marL="0" marR="0" marT="0" marB="0"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noFill/>
                  </a:tcPr>
                </a:tc>
                <a:tc>
                  <a:txBody>
                    <a:bodyPr/>
                    <a:p>
                      <a:pPr>
                        <a:spcBef>
                          <a:spcPct val="0"/>
                        </a:spcBef>
                      </a:pPr>
                      <a:r>
                        <a:rPr lang="en-US" altLang="zh-CN" sz="2400">
                          <a:ea typeface="Google Sans Text"/>
                          <a:cs typeface="+mn-lt"/>
                        </a:rPr>
                        <a:t>0.9511 / 0.6518</a:t>
                      </a:r>
                      <a:endParaRPr lang="en-US" altLang="zh-CN" sz="2400">
                        <a:ea typeface="Google Sans Text"/>
                        <a:cs typeface="+mn-lt"/>
                      </a:endParaRPr>
                    </a:p>
                  </a:txBody>
                  <a:tcPr marL="0" marR="0" marT="0" marB="0"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noFill/>
                  </a:tcPr>
                </a:tc>
                <a:tc>
                  <a:txBody>
                    <a:bodyPr/>
                    <a:p>
                      <a:pPr>
                        <a:spcBef>
                          <a:spcPct val="0"/>
                        </a:spcBef>
                      </a:pPr>
                      <a:r>
                        <a:rPr lang="en-US" altLang="zh-CN" sz="2400">
                          <a:ea typeface="Google Sans Text"/>
                          <a:cs typeface="+mn-lt"/>
                        </a:rPr>
                        <a:t>0.9999 / 0.5423</a:t>
                      </a:r>
                      <a:endParaRPr lang="en-US" altLang="zh-CN" sz="2400">
                        <a:ea typeface="Google Sans Text"/>
                        <a:cs typeface="+mn-lt"/>
                      </a:endParaRPr>
                    </a:p>
                  </a:txBody>
                  <a:tcPr marL="0" marR="0" marT="0" marB="0"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noFill/>
                  </a:tcPr>
                </a:tc>
                <a:tc>
                  <a:txBody>
                    <a:bodyPr/>
                    <a:p>
                      <a:pPr>
                        <a:spcBef>
                          <a:spcPct val="0"/>
                        </a:spcBef>
                      </a:pPr>
                      <a:r>
                        <a:rPr lang="en-US" altLang="zh-CN" sz="2400">
                          <a:ea typeface="Google Sans Text"/>
                          <a:cs typeface="+mn-lt"/>
                        </a:rPr>
                        <a:t>182.58</a:t>
                      </a:r>
                      <a:endParaRPr lang="en-US" altLang="zh-CN" sz="2400">
                        <a:ea typeface="Google Sans Text"/>
                        <a:cs typeface="+mn-lt"/>
                      </a:endParaRPr>
                    </a:p>
                  </a:txBody>
                  <a:tcPr marL="0" marR="0" marT="0" marB="0"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noFill/>
                  </a:tcPr>
                </a:tc>
              </a:tr>
            </a:tbl>
          </a:graphicData>
        </a:graphic>
      </p:graphicFrame>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 name="副标题 2"/>
          <p:cNvSpPr>
            <a:spLocks noGrp="1"/>
          </p:cNvSpPr>
          <p:nvPr>
            <p:ph type="subTitle" idx="1"/>
          </p:nvPr>
        </p:nvSpPr>
        <p:spPr>
          <a:xfrm>
            <a:off x="677545" y="160020"/>
            <a:ext cx="11026140" cy="4136390"/>
          </a:xfrm>
        </p:spPr>
        <p:txBody>
          <a:bodyPr>
            <a:normAutofit/>
          </a:bodyPr>
          <a:p>
            <a:pPr algn="l">
              <a:buFont typeface="Wingdings" panose="05000000000000000000" charset="0"/>
            </a:pPr>
            <a:r>
              <a:rPr lang="en-US" altLang="fr-CA" sz="4000">
                <a:sym typeface="+mn-ea"/>
              </a:rPr>
              <a:t>Result</a:t>
            </a:r>
            <a:endParaRPr lang="en-US" altLang="fr-CA" sz="4000">
              <a:sym typeface="+mn-ea"/>
            </a:endParaRPr>
          </a:p>
        </p:txBody>
      </p:sp>
      <p:sp>
        <p:nvSpPr>
          <p:cNvPr id="5" name="矩形 4"/>
          <p:cNvSpPr/>
          <p:nvPr/>
        </p:nvSpPr>
        <p:spPr>
          <a:xfrm>
            <a:off x="419100" y="1701165"/>
            <a:ext cx="11209020" cy="4413885"/>
          </a:xfrm>
          <a:prstGeom prst="rect">
            <a:avLst/>
          </a:prstGeom>
          <a:noFill/>
          <a:ln>
            <a:noFill/>
          </a:ln>
          <a:extLst>
            <a:ext uri="{909E8E84-426E-40DD-AFC4-6F175D3DCCD1}">
              <a14:hiddenFill xmlns:a14="http://schemas.microsoft.com/office/drawing/2010/main">
                <a:solidFill>
                  <a:schemeClr val="accent1"/>
                </a:solidFill>
              </a14:hiddenFill>
            </a:ext>
          </a:extLst>
        </p:spPr>
        <p:style>
          <a:lnRef idx="2">
            <a:schemeClr val="accent1">
              <a:lumMod val="75000"/>
            </a:schemeClr>
          </a:lnRef>
          <a:fillRef idx="1">
            <a:schemeClr val="accent1"/>
          </a:fillRef>
          <a:effectRef idx="0">
            <a:srgbClr val="FFFFFF"/>
          </a:effectRef>
          <a:fontRef idx="minor">
            <a:schemeClr val="lt1"/>
          </a:fontRef>
        </p:style>
        <p:txBody>
          <a:bodyPr rtlCol="0" anchor="ctr"/>
          <a:p>
            <a:pPr marL="342900" indent="-342900" algn="l">
              <a:buFont typeface="Arial" panose="020B0604020202020204" pitchFamily="34" charset="0"/>
              <a:buChar char="•"/>
            </a:pPr>
            <a:endParaRPr lang="en-US" altLang="zh-CN" sz="2400">
              <a:solidFill>
                <a:schemeClr val="tx1"/>
              </a:solidFill>
              <a:sym typeface="+mn-ea"/>
            </a:endParaRPr>
          </a:p>
          <a:p>
            <a:pPr marL="342900" indent="-342900" algn="l">
              <a:buFont typeface="Arial" panose="020B0604020202020204" pitchFamily="34" charset="0"/>
              <a:buChar char="•"/>
            </a:pPr>
            <a:r>
              <a:rPr lang="en-US" altLang="zh-CN" sz="2400">
                <a:solidFill>
                  <a:schemeClr val="tx1"/>
                </a:solidFill>
                <a:sym typeface="+mn-ea"/>
              </a:rPr>
              <a:t>Best Model (Model 2): By achieving the highest validation $R^2$ on both GDM_g and Dry_Total_g, Model 2 demonstrates that Structured Features paired with XGBoost is the optimal approach for this data.</a:t>
            </a:r>
            <a:endParaRPr lang="en-US" altLang="zh-CN" sz="2400">
              <a:solidFill>
                <a:schemeClr val="tx1"/>
              </a:solidFill>
              <a:sym typeface="+mn-ea"/>
            </a:endParaRPr>
          </a:p>
          <a:p>
            <a:pPr marL="342900" indent="-342900" algn="l">
              <a:buFont typeface="Arial" panose="020B0604020202020204" pitchFamily="34" charset="0"/>
              <a:buChar char="•"/>
            </a:pPr>
            <a:endParaRPr lang="en-US" altLang="zh-CN" sz="2400">
              <a:solidFill>
                <a:schemeClr val="tx1"/>
              </a:solidFill>
              <a:sym typeface="+mn-ea"/>
            </a:endParaRPr>
          </a:p>
          <a:p>
            <a:pPr marL="342900" indent="-342900" algn="l">
              <a:buFont typeface="Arial" panose="020B0604020202020204" pitchFamily="34" charset="0"/>
              <a:buChar char="•"/>
            </a:pPr>
            <a:r>
              <a:rPr lang="en-US" altLang="zh-CN" sz="2400">
                <a:solidFill>
                  <a:schemeClr val="tx1"/>
                </a:solidFill>
                <a:sym typeface="+mn-ea"/>
              </a:rPr>
              <a:t>Value of Satellite Data: Comparing the MLP models, adding Sentinel-2 data (Model 4) raised the GDM_g score from 0.3956 to 0.5116 over the baseline (Model 3), validating the utility of satellite inputs.</a:t>
            </a:r>
            <a:endParaRPr lang="en-US" altLang="zh-CN" sz="2400">
              <a:solidFill>
                <a:schemeClr val="tx1"/>
              </a:solidFill>
              <a:sym typeface="+mn-ea"/>
            </a:endParaRPr>
          </a:p>
          <a:p>
            <a:pPr marL="342900" indent="-342900" algn="l">
              <a:buFont typeface="Arial" panose="020B0604020202020204" pitchFamily="34" charset="0"/>
              <a:buChar char="•"/>
            </a:pPr>
            <a:endParaRPr lang="en-US" altLang="zh-CN" sz="2400">
              <a:solidFill>
                <a:schemeClr val="tx1"/>
              </a:solidFill>
              <a:sym typeface="+mn-ea"/>
            </a:endParaRPr>
          </a:p>
          <a:p>
            <a:pPr marL="342900" indent="-342900" algn="l">
              <a:buFont typeface="Arial" panose="020B0604020202020204" pitchFamily="34" charset="0"/>
              <a:buChar char="•"/>
            </a:pPr>
            <a:r>
              <a:rPr lang="en-US" altLang="zh-CN" sz="2400">
                <a:solidFill>
                  <a:schemeClr val="tx1"/>
                </a:solidFill>
                <a:sym typeface="+mn-ea"/>
              </a:rPr>
              <a:t>Image Data Issues: Model 1 (ResNet) failed to converge, resulting in negative scores. Consequently, the fusion model (Model 5) underperformed Model 2, as the image data effectively acted as noise.</a:t>
            </a:r>
            <a:endParaRPr lang="en-US" altLang="zh-CN" sz="2400">
              <a:solidFill>
                <a:schemeClr val="tx1"/>
              </a:solidFill>
              <a:sym typeface="+mn-ea"/>
            </a:endParaRPr>
          </a:p>
          <a:p>
            <a:pPr marL="342900" indent="-342900" algn="l">
              <a:buFont typeface="Arial" panose="020B0604020202020204" pitchFamily="34" charset="0"/>
              <a:buChar char="•"/>
            </a:pPr>
            <a:endParaRPr lang="en-US" altLang="zh-CN" sz="2400">
              <a:solidFill>
                <a:schemeClr val="tx1"/>
              </a:solidFill>
              <a:sym typeface="+mn-ea"/>
            </a:endParaRPr>
          </a:p>
          <a:p>
            <a:pPr indent="0" algn="l">
              <a:buFont typeface="Arial" panose="020B0604020202020204" pitchFamily="34" charset="0"/>
              <a:buNone/>
            </a:pPr>
            <a:r>
              <a:rPr lang="en-US" altLang="zh-CN" sz="4000">
                <a:solidFill>
                  <a:schemeClr val="tx1"/>
                </a:solidFill>
                <a:sym typeface="+mn-ea"/>
              </a:rPr>
              <a:t>Further Work: other remote sensor data, network(DCN)</a:t>
            </a:r>
            <a:endParaRPr lang="en-US" altLang="zh-CN" sz="4000">
              <a:solidFill>
                <a:schemeClr val="tx1"/>
              </a:solidFill>
              <a:sym typeface="+mn-ea"/>
            </a:endParaRPr>
          </a:p>
          <a:p>
            <a:pPr indent="0" algn="l">
              <a:buFont typeface="Arial" panose="020B0604020202020204" pitchFamily="34" charset="0"/>
              <a:buNone/>
            </a:pPr>
            <a:endParaRPr lang="en-US" altLang="zh-CN" sz="4000">
              <a:solidFill>
                <a:schemeClr val="tx1"/>
              </a:solidFill>
              <a:sym typeface="+mn-ea"/>
            </a:endParaRPr>
          </a:p>
        </p:txBody>
      </p:sp>
    </p:spTree>
  </p:cSld>
  <p:clrMapOvr>
    <a:masterClrMapping/>
  </p:clrMapOvr>
</p:sld>
</file>

<file path=ppt/theme/theme1.xml><?xml version="1.0" encoding="utf-8"?>
<a:theme xmlns:a="http://schemas.openxmlformats.org/drawingml/2006/main" name="WPS">
  <a:themeElements>
    <a:clrScheme name="WPS">
      <a:dk1>
        <a:sysClr val="windowText" lastClr="000000"/>
      </a:dk1>
      <a:lt1>
        <a:sysClr val="window" lastClr="FFFFFF"/>
      </a:lt1>
      <a:dk2>
        <a:srgbClr val="44546A"/>
      </a:dk2>
      <a:lt2>
        <a:srgbClr val="E7E6E6"/>
      </a:lt2>
      <a:accent1>
        <a:srgbClr val="4874CB"/>
      </a:accent1>
      <a:accent2>
        <a:srgbClr val="EE822F"/>
      </a:accent2>
      <a:accent3>
        <a:srgbClr val="F2BA02"/>
      </a:accent3>
      <a:accent4>
        <a:srgbClr val="75BD42"/>
      </a:accent4>
      <a:accent5>
        <a:srgbClr val="30C0B4"/>
      </a:accent5>
      <a:accent6>
        <a:srgbClr val="E54C5E"/>
      </a:accent6>
      <a:hlink>
        <a:srgbClr val="0026E5"/>
      </a:hlink>
      <a:folHlink>
        <a:srgbClr val="7E1FAD"/>
      </a:folHlink>
    </a:clrScheme>
    <a:fontScheme name="WPS">
      <a:majorFont>
        <a:latin typeface="Calibri"/>
        <a:ea typeface=""/>
        <a:cs typeface=""/>
        <a:font script="Jpan" typeface="ＭＳ Ｐゴシック"/>
        <a:font script="Hang" typeface="맑은 고딕"/>
        <a:font script="Hans" typeface="微软雅黑"/>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微软雅黑"/>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WPS">
      <a:fillStyleLst>
        <a:solidFill>
          <a:schemeClr val="phClr"/>
        </a:solidFill>
        <a:gradFill>
          <a:gsLst>
            <a:gs pos="0">
              <a:schemeClr val="phClr">
                <a:lumOff val="17500"/>
              </a:schemeClr>
            </a:gs>
            <a:gs pos="100000">
              <a:schemeClr val="phClr"/>
            </a:gs>
          </a:gsLst>
          <a:lin ang="2700000" scaled="0"/>
        </a:gradFill>
        <a:gradFill>
          <a:gsLst>
            <a:gs pos="0">
              <a:schemeClr val="phClr">
                <a:hueOff val="-2520000"/>
              </a:schemeClr>
            </a:gs>
            <a:gs pos="100000">
              <a:schemeClr val="phClr"/>
            </a:gs>
          </a:gsLst>
          <a:lin ang="2700000" scaled="0"/>
        </a:gradFill>
      </a:fillStyleLst>
      <a:lnStyleLst>
        <a:ln w="12700" cap="flat" cmpd="sng" algn="ctr">
          <a:solidFill>
            <a:schemeClr val="phClr"/>
          </a:solidFill>
          <a:prstDash val="solid"/>
          <a:miter lim="800000"/>
        </a:ln>
        <a:ln w="12700" cap="flat" cmpd="sng" algn="ctr">
          <a:solidFill>
            <a:schemeClr val="phClr"/>
          </a:solidFill>
          <a:prstDash val="solid"/>
          <a:miter lim="800000"/>
        </a:ln>
        <a:ln w="12700" cap="flat" cmpd="sng" algn="ctr">
          <a:gradFill>
            <a:gsLst>
              <a:gs pos="0">
                <a:schemeClr val="phClr">
                  <a:hueOff val="-4200000"/>
                </a:schemeClr>
              </a:gs>
              <a:gs pos="100000">
                <a:schemeClr val="phClr"/>
              </a:gs>
            </a:gsLst>
            <a:lin ang="2700000" scaled="1"/>
          </a:gradFill>
          <a:prstDash val="solid"/>
          <a:miter lim="800000"/>
        </a:ln>
      </a:lnStyleLst>
      <a:effectStyleLst>
        <a:effectStyle>
          <a:effectLst>
            <a:outerShdw blurRad="101600" dist="50800" dir="5400000" algn="ctr" rotWithShape="0">
              <a:schemeClr val="phClr">
                <a:alpha val="60000"/>
              </a:schemeClr>
            </a:outerShdw>
          </a:effectLst>
        </a:effectStyle>
        <a:effectStyle>
          <a:effectLst>
            <a:reflection stA="50000" endA="300" endPos="40000" dist="25400" dir="5400000" sy="-100000" algn="bl" rotWithShape="0"/>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3408</Words>
  <Application>WPS 演示</Application>
  <PresentationFormat>宽屏</PresentationFormat>
  <Paragraphs>152</Paragraphs>
  <Slides>11</Slides>
  <Notes>0</Notes>
  <HiddenSlides>0</HiddenSlides>
  <MMClips>0</MMClips>
  <ScaleCrop>false</ScaleCrop>
  <HeadingPairs>
    <vt:vector size="6" baseType="variant">
      <vt:variant>
        <vt:lpstr>已用的字体</vt:lpstr>
      </vt:variant>
      <vt:variant>
        <vt:i4>10</vt:i4>
      </vt:variant>
      <vt:variant>
        <vt:lpstr>主题</vt:lpstr>
      </vt:variant>
      <vt:variant>
        <vt:i4>1</vt:i4>
      </vt:variant>
      <vt:variant>
        <vt:lpstr>幻灯片标题</vt:lpstr>
      </vt:variant>
      <vt:variant>
        <vt:i4>11</vt:i4>
      </vt:variant>
    </vt:vector>
  </HeadingPairs>
  <TitlesOfParts>
    <vt:vector size="22" baseType="lpstr">
      <vt:lpstr>Arial</vt:lpstr>
      <vt:lpstr>宋体</vt:lpstr>
      <vt:lpstr>Wingdings</vt:lpstr>
      <vt:lpstr>Arial Unicode MS</vt:lpstr>
      <vt:lpstr>Calibri</vt:lpstr>
      <vt:lpstr>微软雅黑</vt:lpstr>
      <vt:lpstr>Wingdings</vt:lpstr>
      <vt:lpstr>Google Sans</vt:lpstr>
      <vt:lpstr>Google Sans Text</vt:lpstr>
      <vt:lpstr>Segoe Print</vt:lpstr>
      <vt:lpstr>WPS</vt:lpstr>
      <vt:lpstr>PowerPoint 演示文稿</vt:lpstr>
      <vt:lpstr>Kaggle</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黄国润</dc:creator>
  <cp:lastModifiedBy>拂树若花生</cp:lastModifiedBy>
  <cp:revision>86</cp:revision>
  <dcterms:created xsi:type="dcterms:W3CDTF">2023-08-09T12:44:00Z</dcterms:created>
  <dcterms:modified xsi:type="dcterms:W3CDTF">2025-12-12T23:15:03Z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2052-12.1.0.24034</vt:lpwstr>
  </property>
  <property fmtid="{D5CDD505-2E9C-101B-9397-08002B2CF9AE}" pid="3" name="ICV">
    <vt:lpwstr>B040DF3AD1A84043A9B11095A8D052B1_12</vt:lpwstr>
  </property>
</Properties>
</file>